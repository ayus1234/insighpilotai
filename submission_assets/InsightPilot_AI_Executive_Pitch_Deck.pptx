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InsightPilot AI: Enterprise Decision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Accenture Innovation Challenge 2026 • Track 3: BusinessIntelligence.ai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Autonomous Decision Intelligence: </a:t>
            </a:r>
            <a:r>
              <a:rPr sz="1450" b="0">
                <a:solidFill>
                  <a:srgbClr val="CBD5E1"/>
                </a:solidFill>
                <a:latin typeface="Segoe UI"/>
              </a:rPr>
              <a:t>Automates transition from descriptive anomaly alerts to prescriptive operational action.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Investigation Latency Reduction: </a:t>
            </a:r>
            <a:r>
              <a:rPr sz="1450" b="0">
                <a:solidFill>
                  <a:srgbClr val="CBD5E1"/>
                </a:solidFill>
                <a:latin typeface="Segoe UI"/>
              </a:rPr>
              <a:t>Collapses enterprise triage cycles from 14-28 business days to under 30 seconds.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Deterministic Architecture: </a:t>
            </a:r>
            <a:r>
              <a:rPr sz="1450" b="0">
                <a:solidFill>
                  <a:srgbClr val="CBD5E1"/>
                </a:solidFill>
                <a:latin typeface="Segoe UI"/>
              </a:rPr>
              <a:t>Zero LLM hallucinations; calculations powered by pure Python deterministic engines.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Architect &amp; Repository: </a:t>
            </a:r>
            <a:r>
              <a:rPr sz="1450" b="0">
                <a:solidFill>
                  <a:srgbClr val="CBD5E1"/>
                </a:solidFill>
                <a:latin typeface="Segoe UI"/>
              </a:rPr>
              <a:t>Ayush Kumar (Lead Architect) • GitHub: https://github.com/ayus1234/InsighPilotAI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-$1.23M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Q3 Revenue Deficit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43.2%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Primary Stockout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+$757.6K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Modeled Recovery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&lt;30s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Automated Triage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01 of 12 • Track 3: BusinessIntelligence.ai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Enterprise Investigation Latency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Modern BI dashboards show WHAT happened; finding WHY takes weeks of cross-silo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Fragmented Enterprise Silos: </a:t>
            </a:r>
            <a:r>
              <a:rPr sz="1450" b="0">
                <a:solidFill>
                  <a:srgbClr val="CBD5E1"/>
                </a:solidFill>
                <a:latin typeface="Segoe UI"/>
              </a:rPr>
              <a:t>Data is isolated in SAP S/4HANA (ERP), Salesforce (CRM), EDI gateways, and WMS.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Critical Investigation Delay: </a:t>
            </a:r>
            <a:r>
              <a:rPr sz="1450" b="0">
                <a:solidFill>
                  <a:srgbClr val="CBD5E1"/>
                </a:solidFill>
                <a:latin typeface="Segoe UI"/>
              </a:rPr>
              <a:t>Diagnosing root causes requires 2 to 4 weeks of manual multi-team coordination.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Irreversible Financial Loss: </a:t>
            </a:r>
            <a:r>
              <a:rPr sz="1450" b="0">
                <a:solidFill>
                  <a:srgbClr val="CBD5E1"/>
                </a:solidFill>
                <a:latin typeface="Segoe UI"/>
              </a:rPr>
              <a:t>By the time causes are found, distributor orders are cancelled and revenue is lost.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GenAI Hallucination Barrier: </a:t>
            </a:r>
            <a:r>
              <a:rPr sz="1450" b="0">
                <a:solidFill>
                  <a:srgbClr val="CBD5E1"/>
                </a:solidFill>
                <a:latin typeface="Segoe UI"/>
              </a:rPr>
              <a:t>Generic LLMs fabricate metrics without verifiable cryptographic audit trails.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21 Days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Avg Investigation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-$550K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Avoidable Stockout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29 POs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Deferred Distributor POs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+310%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Support Escalations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02 of 12 • Track 3: BusinessIntelligence.ai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InsightPilot AI 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Deterministic Systems Own Truth • LangGraph Orchestrates • AI Explains 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Deterministic Analytics Core: </a:t>
            </a:r>
            <a:r>
              <a:rPr sz="1450" b="0">
                <a:solidFill>
                  <a:srgbClr val="CBD5E1"/>
                </a:solidFill>
                <a:latin typeface="Segoe UI"/>
              </a:rPr>
              <a:t>Pure Python calculation engines calculate variance and simulate recovery with 100% precision.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LangGraph 11-Node Orchestration: </a:t>
            </a:r>
            <a:r>
              <a:rPr sz="1450" b="0">
                <a:solidFill>
                  <a:srgbClr val="CBD5E1"/>
                </a:solidFill>
                <a:latin typeface="Segoe UI"/>
              </a:rPr>
              <a:t>Autonomous multi-agent state graph executes systematic investigation cycles.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Capability-Aware Multi-Model Routing: </a:t>
            </a:r>
            <a:r>
              <a:rPr sz="1450" b="0">
                <a:solidFill>
                  <a:srgbClr val="CBD5E1"/>
                </a:solidFill>
                <a:latin typeface="Segoe UI"/>
              </a:rPr>
              <a:t>Dynamic routing between Groq LLaMA 3.3 70B and Google Gemini 2.5 Flash.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Calibrated Abstention Guardrail: </a:t>
            </a:r>
            <a:r>
              <a:rPr sz="1450" b="0">
                <a:solidFill>
                  <a:srgbClr val="CBD5E1"/>
                </a:solidFill>
                <a:latin typeface="Segoe UI"/>
              </a:rPr>
              <a:t>Halts execution if factual grounding confidence drops below strict 80%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100%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Mathematical Precision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11 Nodes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LangGraph StateGraph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2 Engines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Groq + Gemini Multi-Pool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Speculative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03 of 12 • Track 3: BusinessIntelligence.ai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Empirical Diagnostic Findings: East Region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Deterministic decomposition of -$1,230,000.01 net variance across 8 enterprise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Critical Net Deficit: </a:t>
            </a:r>
            <a:r>
              <a:rPr sz="1450" b="0">
                <a:solidFill>
                  <a:srgbClr val="CBD5E1"/>
                </a:solidFill>
                <a:latin typeface="Segoe UI"/>
              </a:rPr>
              <a:t>Q3 2026 actual revenue fell to $14.20M vs $15.43M baseline (-7.97% critical gap).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Primary Operational Trigger: </a:t>
            </a:r>
            <a:r>
              <a:rPr sz="1450" b="0">
                <a:solidFill>
                  <a:srgbClr val="CBD5E1"/>
                </a:solidFill>
                <a:latin typeface="Segoe UI"/>
              </a:rPr>
              <a:t>Atlanta DC suffered 14 consecutive days of zero available inventory for SKU-8821.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Supply Chain Friction: </a:t>
            </a:r>
            <a:r>
              <a:rPr sz="1450" b="0">
                <a:solidFill>
                  <a:srgbClr val="CBD5E1"/>
                </a:solidFill>
                <a:latin typeface="Segoe UI"/>
              </a:rPr>
              <a:t>29 Tier-1 distributor purchase orders ($240K) deferred due to dispatch uncertainty.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Competitive Territory Pressure: </a:t>
            </a:r>
            <a:r>
              <a:rPr sz="1450" b="0">
                <a:solidFill>
                  <a:srgbClr val="CBD5E1"/>
                </a:solidFill>
                <a:latin typeface="Segoe UI"/>
              </a:rPr>
              <a:t>Competitor Horizon Foods executed 15% discount pricing in East territory.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$15.43M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Q2 Baseline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$14.20M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Q3 Actual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-$1.23M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Net Variance Deficit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14 Days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Zero-Stock 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04 of 12 • Track 3: BusinessIntelligence.ai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Deterministic Root-Cause Attribution Waterfall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Exhaustive mathematical decomposition explaining 100.0% of net financial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Driver #1 (Atlanta DC Stockout): </a:t>
            </a:r>
            <a:r>
              <a:rPr sz="1450" b="0">
                <a:solidFill>
                  <a:srgbClr val="CBD5E1"/>
                </a:solidFill>
                <a:latin typeface="Segoe UI"/>
              </a:rPr>
              <a:t>43.2% contribution (-$550,000.00 impact, 94.0% confidence, Directly Controllable).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Driver #2 (Sales Velocity Contraction): </a:t>
            </a:r>
            <a:r>
              <a:rPr sz="1450" b="0">
                <a:solidFill>
                  <a:srgbClr val="CBD5E1"/>
                </a:solidFill>
                <a:latin typeface="Segoe UI"/>
              </a:rPr>
              <a:t>26.7% contribution (-$340,000.00 impact, 88.5% confidence, Directly Controllable).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Driver #3 (Distributor PO Deferrals): </a:t>
            </a:r>
            <a:r>
              <a:rPr sz="1450" b="0">
                <a:solidFill>
                  <a:srgbClr val="CBD5E1"/>
                </a:solidFill>
                <a:latin typeface="Segoe UI"/>
              </a:rPr>
              <a:t>18.8% contribution (-$240,000.00 impact, 89.0% confidence, Semi-Controllable).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Driver #4 (Competitor Pricing Action): </a:t>
            </a:r>
            <a:r>
              <a:rPr sz="1450" b="0">
                <a:solidFill>
                  <a:srgbClr val="CBD5E1"/>
                </a:solidFill>
                <a:latin typeface="Segoe UI"/>
              </a:rPr>
              <a:t>11.3% contribution (-$144,000.00 impact, 86.0% confidence, Market Factor).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100.0%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Variance Explained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-$550K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Primary Driver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4 Drivers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Ranked Attribution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92.4%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Average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05 of 12 • Track 3: BusinessIntelligence.ai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Panoramic 6-Column Decision Graph (Causal DAG)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Interactive causal graph mapping Anomaly -&gt; Drivers -&gt; Market -&gt; Evidence -&gt; Actions -&gt; Outcome.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14 Nodes &amp; 17 Directed Edges: </a:t>
            </a:r>
            <a:r>
              <a:rPr sz="1450" b="0">
                <a:solidFill>
                  <a:srgbClr val="CBD5E1"/>
                </a:solidFill>
                <a:latin typeface="Segoe UI"/>
              </a:rPr>
              <a:t>Visual causality flow illustrating cascading operational dependencies.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1-Click Pathway Focus Mode: </a:t>
            </a:r>
            <a:r>
              <a:rPr sz="1450" b="0">
                <a:solidFill>
                  <a:srgbClr val="CBD5E1"/>
                </a:solidFill>
                <a:latin typeface="Segoe UI"/>
              </a:rPr>
              <a:t>Spotlights specific causal chains (e.g. Stockout -&gt; Transfer -&gt; Recovery).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Balanced 3-Section Toolbar: </a:t>
            </a:r>
            <a:r>
              <a:rPr sz="1450" b="0">
                <a:solidFill>
                  <a:srgbClr val="CBD5E1"/>
                </a:solidFill>
                <a:latin typeface="Segoe UI"/>
              </a:rPr>
              <a:t>Flow selector, instant node search, and toggleable telemetry inspection drawer.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Floating Stage Stepper: </a:t>
            </a:r>
            <a:r>
              <a:rPr sz="1450" b="0">
                <a:solidFill>
                  <a:srgbClr val="CBD5E1"/>
                </a:solidFill>
                <a:latin typeface="Segoe UI"/>
              </a:rPr>
              <a:t>Smooth auto-scroll between lifecycle columns with zero node cutoff.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6 Columns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DAG Lifecycle Canvas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14 Nodes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Grounded Entities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17 Edges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Directed Lineage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1-Click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Pathway Spotlight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06 of 12 • Track 3: BusinessIntelligence.ai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Cryptographic Evidence Explorer &amp; SHA-256 Lineage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12 multi-modal records carrying immutable cryptographic SHA-256 audit digests.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8 Structured Enterprise Records: </a:t>
            </a:r>
            <a:r>
              <a:rPr sz="1450" b="0">
                <a:solidFill>
                  <a:srgbClr val="CBD5E1"/>
                </a:solidFill>
                <a:latin typeface="Segoe UI"/>
              </a:rPr>
              <a:t>Live telemetry from SAP S/4HANA (MM-WM), NetSuite EDI, Salesforce CRM, POS.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4 Unstructured Data Streams: </a:t>
            </a:r>
            <a:r>
              <a:rPr sz="1450" b="0">
                <a:solidFill>
                  <a:srgbClr val="CBD5E1"/>
                </a:solidFill>
                <a:latin typeface="Segoe UI"/>
              </a:rPr>
              <a:t>Distributor emails, customer service tickets, and competitor market pricing intel.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Consolidated 3-Column Table: </a:t>
            </a:r>
            <a:r>
              <a:rPr sz="1450" b="0">
                <a:solidFill>
                  <a:srgbClr val="CBD5E1"/>
                </a:solidFill>
                <a:latin typeface="Segoe UI"/>
              </a:rPr>
              <a:t>Source &amp; Domain, Record ID, and Confidence badge with zero right-edge clipping.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100% Cryptographic Lineage: </a:t>
            </a:r>
            <a:r>
              <a:rPr sz="1450" b="0">
                <a:solidFill>
                  <a:srgbClr val="CBD5E1"/>
                </a:solidFill>
                <a:latin typeface="Segoe UI"/>
              </a:rPr>
              <a:t>On-demand SHA-256 hash validation delivers SOX-compliant corporate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12 Records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Empirical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100%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SHA-256 Integrity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8 Systems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Cross-Silo 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SOX-Ready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Governance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07 of 12 • Track 3: BusinessIntelligence.ai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Prescriptive Recommendations &amp; What-If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Prioritized operational playbook generating +$757,600.00 in modeled recovery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Priority 1 (Emergency Stock Transfer): </a:t>
            </a:r>
            <a:r>
              <a:rPr sz="1450" b="0">
                <a:solidFill>
                  <a:srgbClr val="CBD5E1"/>
                </a:solidFill>
                <a:latin typeface="Segoe UI"/>
              </a:rPr>
              <a:t>Chicago -&gt; Atlanta DC recovers +$484,000.00 (4,800 surplus units available).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Priority 2 (Distributor PO Incentive): </a:t>
            </a:r>
            <a:r>
              <a:rPr sz="1450" b="0">
                <a:solidFill>
                  <a:srgbClr val="CBD5E1"/>
                </a:solidFill>
                <a:latin typeface="Segoe UI"/>
              </a:rPr>
              <a:t>-4% early payment terms recover +$180,000.00 across 29 deferred orders.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Priority 3 (Retail Co-Op Promotion): </a:t>
            </a:r>
            <a:r>
              <a:rPr sz="1450" b="0">
                <a:solidFill>
                  <a:srgbClr val="CBD5E1"/>
                </a:solidFill>
                <a:latin typeface="Segoe UI"/>
              </a:rPr>
              <a:t>Targeted marketing promotion recovers +$93,600.00 to counter competitor pricing.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What-If Multi-Slider Sandbox: </a:t>
            </a:r>
            <a:r>
              <a:rPr sz="1450" b="0">
                <a:solidFill>
                  <a:srgbClr val="CBD5E1"/>
                </a:solidFill>
                <a:latin typeface="Segoe UI"/>
              </a:rPr>
              <a:t>Availability elasticity ($32.2K/pt) recovers 61.6% of deficit in 14-30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+$484K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Priority 1 Transfer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+$180K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Distributor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+$757.6K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Total Modeled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61.6%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Deficit Recouped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08 of 12 • Track 3: BusinessIntelligence.ai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Multi-Persona Executive Decision Briefings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Role-tailored narrative synthesis with 1-click boardroom PDF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Chief Financial Officer (CFO): </a:t>
            </a:r>
            <a:r>
              <a:rPr sz="1450" b="0">
                <a:solidFill>
                  <a:srgbClr val="CBD5E1"/>
                </a:solidFill>
                <a:latin typeface="Segoe UI"/>
              </a:rPr>
              <a:t>GAAP revenue reconciliation, SOX compliance, and capital allocation priorities.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VP of Supply Chain: </a:t>
            </a:r>
            <a:r>
              <a:rPr sz="1450" b="0">
                <a:solidFill>
                  <a:srgbClr val="CBD5E1"/>
                </a:solidFill>
                <a:latin typeface="Segoe UI"/>
              </a:rPr>
              <a:t>Warehouse safety stock targets, freight logistics, and Chicago-to-Atlanta transfer.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Chief Operating Officer (COO): </a:t>
            </a:r>
            <a:r>
              <a:rPr sz="1450" b="0">
                <a:solidFill>
                  <a:srgbClr val="CBD5E1"/>
                </a:solidFill>
                <a:latin typeface="Segoe UI"/>
              </a:rPr>
              <a:t>SLA recovery, operational throughput, distributor relationships, and execution.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Regional Sales Director: </a:t>
            </a:r>
            <a:r>
              <a:rPr sz="1450" b="0">
                <a:solidFill>
                  <a:srgbClr val="CBD5E1"/>
                </a:solidFill>
                <a:latin typeface="Segoe UI"/>
              </a:rPr>
              <a:t>Account-level velocity, retail sell-through rates, and competitive market 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4 Personas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Executive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1-Click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Boardroom PDF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Zero Hallucination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Strict Guardrails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30 Seconds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Briefing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09 of 12 • Track 3: BusinessIntelligence.ai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Enterprise Cloud Architecture &amp; Security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Modern cloud-native stack engineered for enterprise resilience, high concurrency, and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FastAPI ASGI High-Throughput API: </a:t>
            </a:r>
            <a:r>
              <a:rPr sz="1450" b="0">
                <a:solidFill>
                  <a:srgbClr val="CBD5E1"/>
                </a:solidFill>
                <a:latin typeface="Segoe UI"/>
              </a:rPr>
              <a:t>Sub-50ms deterministic inference with Pydantic v2 validation contracts.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Next.js 14 App Router Frontend: </a:t>
            </a:r>
            <a:r>
              <a:rPr sz="1450" b="0">
                <a:solidFill>
                  <a:srgbClr val="CBD5E1"/>
                </a:solidFill>
                <a:latin typeface="Segoe UI"/>
              </a:rPr>
              <a:t>Pure Tailwind CSS, React 18, Glassmorphism UI, 10 pre-rendered static routes.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Structured Observability &amp; Tracing: </a:t>
            </a:r>
            <a:r>
              <a:rPr sz="1450" b="0">
                <a:solidFill>
                  <a:srgbClr val="CBD5E1"/>
                </a:solidFill>
                <a:latin typeface="Segoe UI"/>
              </a:rPr>
              <a:t>Structured JSON logging with unique X-Request-ID tracing and 12-subsystem probes.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Enterprise Security Standards: </a:t>
            </a:r>
            <a:r>
              <a:rPr sz="1450" b="0">
                <a:solidFill>
                  <a:srgbClr val="CBD5E1"/>
                </a:solidFill>
                <a:latin typeface="Segoe UI"/>
              </a:rPr>
              <a:t>Strict CSP, X-Frame-Options DENY, sanitization, and 0 secret leakage in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305/305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Backend 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10/10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Static Routes Compiled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&lt;50ms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Engine API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0 Secrets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Verified Git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10 of 12 • Track 3: BusinessIntelligence.ai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Commercial Business Model &amp; Fortune 500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Compelling enterprise SaaS economics with a 2.7x first-year ROI in under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Tiered Enterprise Pricing: </a:t>
            </a:r>
            <a:r>
              <a:rPr sz="1450" b="0">
                <a:solidFill>
                  <a:srgbClr val="CBD5E1"/>
                </a:solidFill>
                <a:latin typeface="Segoe UI"/>
              </a:rPr>
              <a:t>Annual SaaS subscription ($180K/year/business unit) + $45K connector onboarding.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Immediate Margin Protection: </a:t>
            </a:r>
            <a:r>
              <a:rPr sz="1450" b="0">
                <a:solidFill>
                  <a:srgbClr val="CBD5E1"/>
                </a:solidFill>
                <a:latin typeface="Segoe UI"/>
              </a:rPr>
              <a:t>Preventing a single 14-day stockout recovers +$484,000 in net profit margin.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Rapid Investment Payback: </a:t>
            </a:r>
            <a:r>
              <a:rPr sz="1450" b="0">
                <a:solidFill>
                  <a:srgbClr val="CBD5E1"/>
                </a:solidFill>
                <a:latin typeface="Segoe UI"/>
              </a:rPr>
              <a:t>Full software investment recouped in less than 3 months of live operation.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Expansion Vectors: </a:t>
            </a:r>
            <a:r>
              <a:rPr sz="1450" b="0">
                <a:solidFill>
                  <a:srgbClr val="CBD5E1"/>
                </a:solidFill>
                <a:latin typeface="Segoe UI"/>
              </a:rPr>
              <a:t>Scales across Supply Chain, Commercial Sales, Finance, and Procurement divisions.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$180K/yr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Enterprise SaaS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2.7x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First-Year ROI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&lt;90 Days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Payback Period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$250M+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Target Account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11 of 12 • Track 3: BusinessIntelligence.ai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5720"/>
          </a:xfrm>
          <a:prstGeom prst="rect">
            <a:avLst/>
          </a:prstGeom>
          <a:solidFill>
            <a:srgbClr val="4FD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FDEC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1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Conclusion, Production Readiness &amp; Submission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4FDEC8"/>
                </a:solidFill>
                <a:latin typeface="Segoe UI"/>
              </a:defRPr>
            </a:pPr>
            <a:r>
              <a:t>Fully tested, deployed, documented, and ready for immediate executive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858000" cy="4709160"/>
          </a:xfrm>
          <a:prstGeom prst="roundRect">
            <a:avLst/>
          </a:prstGeom>
          <a:solidFill>
            <a:srgbClr val="0C2138"/>
          </a:solidFill>
          <a:ln w="1905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64008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Competition Track: </a:t>
            </a:r>
            <a:r>
              <a:rPr sz="1450" b="0">
                <a:solidFill>
                  <a:srgbClr val="CBD5E1"/>
                </a:solidFill>
                <a:latin typeface="Segoe UI"/>
              </a:rPr>
              <a:t>Accenture Innovation Challenge 2026 • Track 3: BusinessIntelligence.ai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Public Repository: </a:t>
            </a:r>
            <a:r>
              <a:rPr sz="1450" b="0">
                <a:solidFill>
                  <a:srgbClr val="CBD5E1"/>
                </a:solidFill>
                <a:latin typeface="Segoe UI"/>
              </a:rPr>
              <a:t>100% test coverage &amp; zero secrets — https://github.com/ayus1234/InsighPilotAI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High-Definition Video Demo: </a:t>
            </a:r>
            <a:r>
              <a:rPr sz="1450" b="0">
                <a:solidFill>
                  <a:srgbClr val="CBD5E1"/>
                </a:solidFill>
                <a:latin typeface="Segoe UI"/>
              </a:rPr>
              <a:t>3-minute executive walkthrough showcasing all 7 core analytical screens.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4FDEC8"/>
                </a:solidFill>
                <a:latin typeface="Segoe UI"/>
              </a:rPr>
              <a:t>•  Final Deliverables: </a:t>
            </a:r>
            <a:r>
              <a:rPr sz="1450" b="0">
                <a:solidFill>
                  <a:srgbClr val="CBD5E1"/>
                </a:solidFill>
                <a:latin typeface="Segoe UI"/>
              </a:rPr>
              <a:t>Master README (PDF), Business Proposal (PDF/PPTX), and Prototype Demo Video.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08760"/>
            <a:ext cx="3596335" cy="1078992"/>
          </a:xfrm>
          <a:prstGeom prst="roundRect">
            <a:avLst/>
          </a:prstGeom>
          <a:solidFill>
            <a:srgbClr val="0C2138"/>
          </a:solidFill>
          <a:ln w="25400">
            <a:solidFill>
              <a:srgbClr val="4F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5819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DEC8"/>
                </a:solidFill>
                <a:latin typeface="Segoe UI"/>
              </a:defRPr>
            </a:pPr>
            <a:r>
              <a:t>100%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Competition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24912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79806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305 Tests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Green Test Suite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41063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1421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BBF24"/>
                </a:solidFill>
                <a:latin typeface="Segoe UI"/>
              </a:defRPr>
            </a:pPr>
            <a:r>
              <a:t>7 Screens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Full User Journey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5157216"/>
            <a:ext cx="3596335" cy="1078992"/>
          </a:xfrm>
          <a:prstGeom prst="roundRect">
            <a:avLst/>
          </a:prstGeom>
          <a:solidFill>
            <a:srgbClr val="0C2138"/>
          </a:solidFill>
          <a:ln w="15240">
            <a:solidFill>
              <a:srgbClr val="1E4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523036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Ready</a:t>
            </a:r>
          </a:p>
          <a:p>
            <a:pPr>
              <a:defRPr sz="1300" b="1">
                <a:solidFill>
                  <a:srgbClr val="CBD5E1"/>
                </a:solidFill>
                <a:latin typeface="Segoe UI"/>
              </a:defRPr>
            </a:pPr>
            <a:r>
              <a:t>Final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InsightPilot AI • Confidential • Slide 12 of 12 • Track 3: BusinessIntelligence.ai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