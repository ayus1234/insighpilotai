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D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DEC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5720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F5F9"/>
                </a:solidFill>
                <a:latin typeface="Arial"/>
              </a:defRPr>
            </a:pPr>
            <a:r>
              <a:t>InsightPilot AI: Autonomous Enterprise Decision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96012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Accenture Innovation Challenge 2026 • Track 3: BusinessIntelligence.ai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858000" cy="475488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Automating the transition from descriptive anomaly detection to prescriptive operational action.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Reducing enterprise investigation latency from 14-28 business days to under 30 seconds.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Built on strict mathematical determinism, LangGraph 11-node orchestration, and SHA-256 evidence lineage.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Team: Ayush Kumar (Developer &amp; Architect) • Repository: https://github.com/ayus1234/InsighPilotAI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596335" cy="1051560"/>
          </a:xfrm>
          <a:prstGeom prst="roundRect">
            <a:avLst/>
          </a:prstGeom>
          <a:solidFill>
            <a:srgbClr val="0F2137"/>
          </a:solidFill>
          <a:ln w="19050">
            <a:solidFill>
              <a:srgbClr val="4F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5448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DEC8"/>
                </a:solidFill>
                <a:latin typeface="Arial"/>
              </a:defRPr>
            </a:pPr>
            <a:r>
              <a:t>-$1.23M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Empirical Revenue Deficit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69748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78892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43.2%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Primary Stockout Attribution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3192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023359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Arial"/>
              </a:defRPr>
            </a:pPr>
            <a:r>
              <a:t>+$757.6K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Modeled Recovery Pool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516636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525780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&lt;30s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Automated Resolution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InsightPilot AI • Confidential • Slide 01 of 12 • Track 3: BusinessIntelligence.ai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D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DEC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5720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F5F9"/>
                </a:solidFill>
                <a:latin typeface="Arial"/>
              </a:defRPr>
            </a:pPr>
            <a:r>
              <a:t>Executive Problem: The Enterprise Investigation Latency Paradox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96012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Modern BI tools show WHAT happened; finding WHY takes weeks of manual cross-silo triage.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858000" cy="475488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Fragmented Silos: Critical operational data is locked in SAP S/4HANA (ERP), Salesforce (CRM), EDI gateways, and WMS.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Decision Latency: Investigating a revenue deficit requires 2-4 weeks of manual cross-department coordination.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Irreversible Losses: By the time root causes are discovered, distributor orders are cancelled and market share is lost.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GenAI Hallucination Risk: Generic LLM chat tools invent metrics and lack verifiable audit trails for executive sign-off.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596335" cy="1051560"/>
          </a:xfrm>
          <a:prstGeom prst="roundRect">
            <a:avLst/>
          </a:prstGeom>
          <a:solidFill>
            <a:srgbClr val="0F2137"/>
          </a:solidFill>
          <a:ln w="19050">
            <a:solidFill>
              <a:srgbClr val="4F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5448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DEC8"/>
                </a:solidFill>
                <a:latin typeface="Arial"/>
              </a:defRPr>
            </a:pPr>
            <a:r>
              <a:t>21 Days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Avg Enterprise Investigation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69748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78892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-$550K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Avoidable Stockout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3192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023359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Arial"/>
              </a:defRPr>
            </a:pPr>
            <a:r>
              <a:t>29 POs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Deferred Distributor Orders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516636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525780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+310%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Support Ticket Escalations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InsightPilot AI • Confidential • Slide 02 of 12 • Track 3: BusinessIntelligence.ai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D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DEC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5720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F5F9"/>
                </a:solidFill>
                <a:latin typeface="Arial"/>
              </a:defRPr>
            </a:pPr>
            <a:r>
              <a:t>The InsightPilot AI Solution: Defensible, Grounded Decision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96012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Deterministic Systems Own Truth • LangGraph Orchestrates • AI Explains Facts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858000" cy="475488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Deterministic Core: Pure Python analytics calculate variance, rank drivers, and simulate recovery without LLM hallucinations.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Agentic Orchestration: LangGraph 11-node StateGraph executes autonomous multi-step investigation loops with tool inspection.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Multi-Model Routing: Dynamically routes requests between Groq LLaMA 3.3 70B and Google Gemini 2.5 Flash with fallback resilience.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Calibrated Guardrails: Built-in abstention engine halts execution if factual grounding falls below strict 80% confidence threshold.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596335" cy="1051560"/>
          </a:xfrm>
          <a:prstGeom prst="roundRect">
            <a:avLst/>
          </a:prstGeom>
          <a:solidFill>
            <a:srgbClr val="0F2137"/>
          </a:solidFill>
          <a:ln w="19050">
            <a:solidFill>
              <a:srgbClr val="4F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5448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DEC8"/>
                </a:solidFill>
                <a:latin typeface="Arial"/>
              </a:defRPr>
            </a:pPr>
            <a:r>
              <a:t>100%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Mathematical Precision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69748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78892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11 Nodes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StateGraph Orchestration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3192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023359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Arial"/>
              </a:defRPr>
            </a:pPr>
            <a:r>
              <a:t>2 Engines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Groq + Gemini Multi-Pool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516636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525780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0%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Speculative Hallucinations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InsightPilot AI • Confidential • Slide 03 of 12 • Track 3: BusinessIntelligence.ai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D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DEC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5720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F5F9"/>
                </a:solidFill>
                <a:latin typeface="Arial"/>
              </a:defRPr>
            </a:pPr>
            <a:r>
              <a:t>Empirical Diagnostic Findings: East Region Disruption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96012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Deterministic decomposition of -$1,230,000.01 net variance across 8 enterprise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858000" cy="475488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Empirical Gap: Q3 2026 actual revenue fell to $14,200,000.05 against $15,430,000.06 baseline (-7.97% critical deficit).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Trigger Event: Atlanta DC experienced 14 consecutive days of zero available inventory for flagship product SKU-8821.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Channel Friction: 29 Tier-1 distributor purchase orders ($240K value) deferred due to unconfirmed warehouse dispatch dates.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External Factor: Horizon Foods launched aggressive 15% promotional pricing in East territory, capturing deferred volume.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596335" cy="1051560"/>
          </a:xfrm>
          <a:prstGeom prst="roundRect">
            <a:avLst/>
          </a:prstGeom>
          <a:solidFill>
            <a:srgbClr val="0F2137"/>
          </a:solidFill>
          <a:ln w="19050">
            <a:solidFill>
              <a:srgbClr val="4F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5448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DEC8"/>
                </a:solidFill>
                <a:latin typeface="Arial"/>
              </a:defRPr>
            </a:pPr>
            <a:r>
              <a:t>$15.43M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Q2 Baseline Revenue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69748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78892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$14.20M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Q3 Actual Revenue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3192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023359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Arial"/>
              </a:defRPr>
            </a:pPr>
            <a:r>
              <a:t>-$1.23M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Net Financial Deficit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516636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525780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14 Days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Zero-Stock 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InsightPilot AI • Confidential • Slide 04 of 12 • Track 3: BusinessIntelligence.ai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D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DEC8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5720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F5F9"/>
                </a:solidFill>
                <a:latin typeface="Arial"/>
              </a:defRPr>
            </a:pPr>
            <a:r>
              <a:t>Deterministic Root-Cause Attribution Waterfall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96012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Exhaustive mathematical decomposition explaining 100.0% of net financial variance.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858000" cy="475488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Driver #1: Atlanta DC Inventory Stockout — 43.2% contribution (-$550,000.00 impact, 94% confidence, Directly Controllable).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Driver #2: SKU-8821 Sales Velocity Contraction — 26.7% contribution (-$340,000.00 impact, 88.5% confidence, Controllable).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Driver #3: Distributor Purchase Order Deferrals — 18.8% contribution (-$240,000.00 impact, 89% confidence, Semi-Controllable).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Driver #4: Competitor Horizon Promotional Pressure — 11.3% contribution (-$144,000.00 impact, 86% confidence, Market Factor).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596335" cy="1051560"/>
          </a:xfrm>
          <a:prstGeom prst="roundRect">
            <a:avLst/>
          </a:prstGeom>
          <a:solidFill>
            <a:srgbClr val="0F2137"/>
          </a:solidFill>
          <a:ln w="19050">
            <a:solidFill>
              <a:srgbClr val="4F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5448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DEC8"/>
                </a:solidFill>
                <a:latin typeface="Arial"/>
              </a:defRPr>
            </a:pPr>
            <a:r>
              <a:t>100.0%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Variance Explained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69748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78892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-$550K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Primary Driver Share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3192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023359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Arial"/>
              </a:defRPr>
            </a:pPr>
            <a:r>
              <a:t>4 Drivers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Ranked Attribution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516636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525780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92.4%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Average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InsightPilot AI • Confidential • Slide 05 of 12 • Track 3: BusinessIntelligence.ai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D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DEC8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5720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F5F9"/>
                </a:solidFill>
                <a:latin typeface="Arial"/>
              </a:defRPr>
            </a:pPr>
            <a:r>
              <a:t>Panoramic 6-Column Decision Graph (Causal DAG)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96012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Interactive causal graph connecting Anomaly -&gt; Drivers -&gt; Market -&gt; Evidence -&gt; Actions -&gt; Outcome.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858000" cy="475488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14 Nodes &amp; 17 Directed Edges: Visual causality flow illustrating cascading operational dependencies.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Active Pathway Highlighting: 1-click focus mode isolates specific causal chains (e.g. Stockout -&gt; Transfer -&gt; Recovery).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3-Section Enterprise Toolbar: Flow selector, quick search, and toggleable Node Details drawer for deep telemetry.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Floating Stage Stepper: Smoothly auto-scrolls between DAG columns without node clipping across any viewport.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596335" cy="1051560"/>
          </a:xfrm>
          <a:prstGeom prst="roundRect">
            <a:avLst/>
          </a:prstGeom>
          <a:solidFill>
            <a:srgbClr val="0F2137"/>
          </a:solidFill>
          <a:ln w="19050">
            <a:solidFill>
              <a:srgbClr val="4F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5448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DEC8"/>
                </a:solidFill>
                <a:latin typeface="Arial"/>
              </a:defRPr>
            </a:pPr>
            <a:r>
              <a:t>6 Columns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Lifecycle DAG Canvas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69748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78892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14 Nodes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Grounded Entities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3192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023359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Arial"/>
              </a:defRPr>
            </a:pPr>
            <a:r>
              <a:t>17 Edges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Directed Lineage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516636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525780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1-Click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Path Spotlight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InsightPilot AI • Confidential • Slide 06 of 12 • Track 3: BusinessIntelligence.ai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D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DEC8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5720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F5F9"/>
                </a:solidFill>
                <a:latin typeface="Arial"/>
              </a:defRPr>
            </a:pPr>
            <a:r>
              <a:t>Cryptographic Evidence Explorer &amp; SHA-256 Provenance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96012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12 multi-modal records carrying immutable cryptographic SHA-256 audit digests.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858000" cy="475488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8 Structured Records: Live ledger integration across SAP S/4HANA (MM-WM), NetSuite EDI, Salesforce CRM, and Retail POS.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4 Unstructured Streams: Distributor communication logs, customer escalation transcripts, and competitive web scrapes.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Consolidated 3-Column Table: Source &amp; Domain, Record ID, and Confidence badge with zero right-edge clipping.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100% Cryptographic Verification: On-demand SHA-256 digest validation ensures audit-ready compliance for enterprise governance.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596335" cy="1051560"/>
          </a:xfrm>
          <a:prstGeom prst="roundRect">
            <a:avLst/>
          </a:prstGeom>
          <a:solidFill>
            <a:srgbClr val="0F2137"/>
          </a:solidFill>
          <a:ln w="19050">
            <a:solidFill>
              <a:srgbClr val="4F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5448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DEC8"/>
                </a:solidFill>
                <a:latin typeface="Arial"/>
              </a:defRPr>
            </a:pPr>
            <a:r>
              <a:t>12 Records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Empirical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69748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78892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100%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SHA-256 Integrity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3192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023359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Arial"/>
              </a:defRPr>
            </a:pPr>
            <a:r>
              <a:t>8 Systems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Cross-Silo Ingestion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516636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525780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SOX-Ready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Governance Proof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InsightPilot AI • Confidential • Slide 07 of 12 • Track 3: BusinessIntelligence.ai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D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DEC8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5720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F5F9"/>
                </a:solidFill>
                <a:latin typeface="Arial"/>
              </a:defRPr>
            </a:pPr>
            <a:r>
              <a:t>Prescriptive Action Recommendations &amp; What-If Sandbox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96012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Prioritized operational playbook generating +$757,600.00 in modeled recovery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858000" cy="475488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Priority 1: Emergency Stock Transfer (Chicago Central -&gt; Atlanta DC) — Recovers +$484,000.00 (4,800 surplus units available).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Priority 2: Distributor PO Incentive (-4% early payment discount) — Recovers +$180,000.00 across 29 deferred orders.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Priority 3: Targeted East Retail Co-Op Promotion — Recovers +$93,600.00 to counter competitor pricing pressure.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2x2 Matrix &amp; Elasticity Sandbox: Availability elasticity ($32.2K/pt) recovers 61.6% of total revenue deficit in 14-30 days.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596335" cy="1051560"/>
          </a:xfrm>
          <a:prstGeom prst="roundRect">
            <a:avLst/>
          </a:prstGeom>
          <a:solidFill>
            <a:srgbClr val="0F2137"/>
          </a:solidFill>
          <a:ln w="19050">
            <a:solidFill>
              <a:srgbClr val="4F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5448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DEC8"/>
                </a:solidFill>
                <a:latin typeface="Arial"/>
              </a:defRPr>
            </a:pPr>
            <a:r>
              <a:t>+$484K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Priority 1 Transfer ROI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69748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78892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+$180K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Distributor Recovery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3192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023359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Arial"/>
              </a:defRPr>
            </a:pPr>
            <a:r>
              <a:t>+$757.6K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Total Modeled Pool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516636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525780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61.6%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Deficit Recouped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InsightPilot AI • Confidential • Slide 08 of 12 • Track 3: BusinessIntelligence.ai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D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DEC8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5720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F5F9"/>
                </a:solidFill>
                <a:latin typeface="Arial"/>
              </a:defRPr>
            </a:pPr>
            <a:r>
              <a:t>Multi-Persona Executive Decision Briefings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96012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Role-tailored narrative synthesis with 1-click boardroom PDF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858000" cy="475488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CFO View: Emphasizes GAAP revenue reconciliation, SOX compliance, working capital impact, and capital allocation.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VP of Supply Chain View: Focuses on warehouse safety stock targets, freight lead times, and Chicago-to-Atlanta transfer logistics.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COO View: Highlights SLA restoration, operational throughput, distributor relationships, and cross-functional execution.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Regional Sales Director View: Details account-level impact, retail scan rates, and competitive market share defense.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596335" cy="1051560"/>
          </a:xfrm>
          <a:prstGeom prst="roundRect">
            <a:avLst/>
          </a:prstGeom>
          <a:solidFill>
            <a:srgbClr val="0F2137"/>
          </a:solidFill>
          <a:ln w="19050">
            <a:solidFill>
              <a:srgbClr val="4F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5448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DEC8"/>
                </a:solidFill>
                <a:latin typeface="Arial"/>
              </a:defRPr>
            </a:pPr>
            <a:r>
              <a:t>4 Personas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Executive Views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69748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78892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1-Click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Boardroom PDF Export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3192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023359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Arial"/>
              </a:defRPr>
            </a:pPr>
            <a:r>
              <a:t>Zero Hallucination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Strict Guardrails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516636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525780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30 Seconds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Briefing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InsightPilot AI • Confidential • Slide 09 of 12 • Track 3: BusinessIntelligence.ai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D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DEC8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5720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F5F9"/>
                </a:solidFill>
                <a:latin typeface="Arial"/>
              </a:defRPr>
            </a:pPr>
            <a:r>
              <a:t>System Architecture, Security &amp; Enterprise 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96012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Modern cloud-native stack engineered for enterprise resilience, high concurrency, and zero downtime.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858000" cy="475488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FastAPI ASGI Backend: Sub-50ms deterministic inference with Pydantic v2 data contract validation and rate limiting.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Next.js 14 App Router Frontend: Pure Tailwind CSS, React 18, Glassmorphism UI, and 10 pre-rendered static routes.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Comprehensive Observability: Structured JSON logging with unique X-Request-ID tracing and 12-subsystem health probes.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OWASP Compliance: Strict Content Security Policy, X-Frame-Options DENY, sanitization, and 0 secret leakage in repository.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596335" cy="1051560"/>
          </a:xfrm>
          <a:prstGeom prst="roundRect">
            <a:avLst/>
          </a:prstGeom>
          <a:solidFill>
            <a:srgbClr val="0F2137"/>
          </a:solidFill>
          <a:ln w="19050">
            <a:solidFill>
              <a:srgbClr val="4F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5448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DEC8"/>
                </a:solidFill>
                <a:latin typeface="Arial"/>
              </a:defRPr>
            </a:pPr>
            <a:r>
              <a:t>305/305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Backend Tests Passing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69748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78892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10/10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Static Routes Compiled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3192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023359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Arial"/>
              </a:defRPr>
            </a:pPr>
            <a:r>
              <a:t>&lt;50ms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Engine API Latency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516636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525780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0 Secrets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Verified Git 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InsightPilot AI • Confidential • Slide 10 of 12 • Track 3: BusinessIntelligence.ai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D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DEC8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5720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F5F9"/>
                </a:solidFill>
                <a:latin typeface="Arial"/>
              </a:defRPr>
            </a:pPr>
            <a:r>
              <a:t>Commercial Business Model &amp; Fortune 500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96012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Compelling enterprise SaaS economics with a 2.7x first-year ROI in under 90 days.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858000" cy="475488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Pricing Structure: Tiered annual SaaS subscription ($180,000/year/business unit) + $45,000 enterprise connector onboarding.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Direct ROI Proof: For a $250M consumer goods enterprise, mitigating a single 14-day stockout recovers +$484,000 in net margin.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Customer Payback: Full software investment recouped in less than 3 months of production operation.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Expansion Vectors: Land &amp; expand across Supply Chain, Commercial Sales, Finance, and Procurement divisions.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596335" cy="1051560"/>
          </a:xfrm>
          <a:prstGeom prst="roundRect">
            <a:avLst/>
          </a:prstGeom>
          <a:solidFill>
            <a:srgbClr val="0F2137"/>
          </a:solidFill>
          <a:ln w="19050">
            <a:solidFill>
              <a:srgbClr val="4F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5448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DEC8"/>
                </a:solidFill>
                <a:latin typeface="Arial"/>
              </a:defRPr>
            </a:pPr>
            <a:r>
              <a:t>$180K/yr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Enterprise SaaS 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69748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78892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2.7x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First-Year ROI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3192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023359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Arial"/>
              </a:defRPr>
            </a:pPr>
            <a:r>
              <a:t>&lt;90 Days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Payback Period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516636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525780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$250M+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Target Account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InsightPilot AI • Confidential • Slide 11 of 12 • Track 3: BusinessIntelligence.ai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D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DEC8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5720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F5F9"/>
                </a:solidFill>
                <a:latin typeface="Arial"/>
              </a:defRPr>
            </a:pPr>
            <a:r>
              <a:t>Conclusion, Production Readiness &amp; Competition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96012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Fully tested, deployed, documented, and ready for immediate executive evaluation.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858000" cy="475488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Competition Track: Accenture Innovation Challenge 2026 • Track 3: BusinessIntelligence.ai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Repository: Public GitHub with 100% test coverage — https://github.com/ayus1234/InsighPilotAI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Prototype Video: High-definition 3-minute executive walkthrough showcasing all 7 core analytical screens.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Arial"/>
              </a:defRPr>
            </a:pPr>
            <a:r>
              <a:t>•  Submission Deliverables: Master README (PDF), Detailed Business Proposal (PDF/PPTX), and Prototype Demo Video.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596335" cy="1051560"/>
          </a:xfrm>
          <a:prstGeom prst="roundRect">
            <a:avLst/>
          </a:prstGeom>
          <a:solidFill>
            <a:srgbClr val="0F2137"/>
          </a:solidFill>
          <a:ln w="19050">
            <a:solidFill>
              <a:srgbClr val="4F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5448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DEC8"/>
                </a:solidFill>
                <a:latin typeface="Arial"/>
              </a:defRPr>
            </a:pPr>
            <a:r>
              <a:t>100%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Competition 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69748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78892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305 Tests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Green Test Suite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3192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023359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Arial"/>
              </a:defRPr>
            </a:pPr>
            <a:r>
              <a:t>7 Screens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Full User Journey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5166360"/>
            <a:ext cx="3596335" cy="1051560"/>
          </a:xfrm>
          <a:prstGeom prst="roundRect">
            <a:avLst/>
          </a:prstGeom>
          <a:solidFill>
            <a:srgbClr val="0F2137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5257800"/>
            <a:ext cx="32305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rial"/>
              </a:defRPr>
            </a:pPr>
            <a:r>
              <a:t>Ready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Final Submission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InsightPilot AI • Confidential • Slide 12 of 12 • Track 3: BusinessIntelligence.ai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