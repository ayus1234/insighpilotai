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3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94" r:id="rId3"/>
    <p:sldMasterId id="2147483699" r:id="rId4"/>
    <p:sldMasterId id="2147483713" r:id="rId5"/>
  </p:sldMasterIdLst>
  <p:notesMasterIdLst>
    <p:notesMasterId r:id="rId23"/>
  </p:notesMasterIdLst>
  <p:sldIdLst>
    <p:sldId id="820" r:id="rId6"/>
    <p:sldId id="901" r:id="rId7"/>
    <p:sldId id="1906872563" r:id="rId8"/>
    <p:sldId id="1906872570" r:id="rId9"/>
    <p:sldId id="1906872569" r:id="rId10"/>
    <p:sldId id="1906872571" r:id="rId11"/>
    <p:sldId id="1906872572" r:id="rId12"/>
    <p:sldId id="1906872573" r:id="rId13"/>
    <p:sldId id="1906872574" r:id="rId14"/>
    <p:sldId id="1906872575" r:id="rId15"/>
    <p:sldId id="1906872576" r:id="rId16"/>
    <p:sldId id="1906872577" r:id="rId17"/>
    <p:sldId id="1906872578" r:id="rId18"/>
    <p:sldId id="1906872579" r:id="rId19"/>
    <p:sldId id="1906872580" r:id="rId20"/>
    <p:sldId id="1906872581" r:id="rId21"/>
    <p:sldId id="91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64" d="100"/>
          <a:sy n="64" d="100"/>
        </p:scale>
        <p:origin x="94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F16013-F085-4538-9539-111F70D152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889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F16013-F085-4538-9539-111F70D152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5557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F16013-F085-4538-9539-111F70D152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9998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F16013-F085-4538-9539-111F70D1527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955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F16013-F085-4538-9539-111F70D1527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096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2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5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5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Master" Target="../slideMasters/slideMaster5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24549" y="358356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3588203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824549" y="1600631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160527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30446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824549" y="228869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228685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28739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816294" y="427162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426978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FC8AB6A1-27E9-4726-8EED-1379C2B79D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99EB2F96-A524-4376-ABC5-3FEBABEBAA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74109FF-31FD-44DD-9BFD-B595E095CC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9776" y="1597537"/>
            <a:ext cx="4395264" cy="3523001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>
              <a:lnSpc>
                <a:spcPct val="70000"/>
              </a:lnSpc>
              <a:defRPr sz="7200">
                <a:solidFill>
                  <a:schemeClr val="accent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12731847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3" y="377805"/>
            <a:ext cx="11421740" cy="1565295"/>
          </a:xfrm>
        </p:spPr>
        <p:txBody>
          <a:bodyPr tIns="0" bIns="0" anchor="t">
            <a:normAutofit/>
          </a:bodyPr>
          <a:lstStyle>
            <a:lvl1pPr>
              <a:lnSpc>
                <a:spcPct val="80000"/>
              </a:lnSpc>
              <a:defRPr sz="6000" cap="none">
                <a:solidFill>
                  <a:schemeClr val="tx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44">
            <a:extLst>
              <a:ext uri="{FF2B5EF4-FFF2-40B4-BE49-F238E27FC236}">
                <a16:creationId xmlns:a16="http://schemas.microsoft.com/office/drawing/2014/main" id="{62554568-01B3-4431-8A8E-3067ECE43F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512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06</a:t>
            </a:r>
            <a:endParaRPr lang="en-GB"/>
          </a:p>
        </p:txBody>
      </p:sp>
      <p:sp>
        <p:nvSpPr>
          <p:cNvPr id="71" name="Text Placeholder 44">
            <a:extLst>
              <a:ext uri="{FF2B5EF4-FFF2-40B4-BE49-F238E27FC236}">
                <a16:creationId xmlns:a16="http://schemas.microsoft.com/office/drawing/2014/main" id="{CCA78229-FDF4-4DB6-B436-CBCFEF9314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57730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07</a:t>
            </a:r>
            <a:endParaRPr lang="en-GB"/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17948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08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78166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09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10</a:t>
            </a:r>
            <a:endParaRPr lang="en-GB"/>
          </a:p>
        </p:txBody>
      </p:sp>
      <p:sp>
        <p:nvSpPr>
          <p:cNvPr id="75" name="Text Placeholder 44">
            <a:extLst>
              <a:ext uri="{FF2B5EF4-FFF2-40B4-BE49-F238E27FC236}">
                <a16:creationId xmlns:a16="http://schemas.microsoft.com/office/drawing/2014/main" id="{D012A4F1-1A7B-4861-AAD0-9C8C48E69A0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97512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  <a:endParaRPr lang="en-GB"/>
          </a:p>
        </p:txBody>
      </p:sp>
      <p:sp>
        <p:nvSpPr>
          <p:cNvPr id="76" name="Text Placeholder 44">
            <a:extLst>
              <a:ext uri="{FF2B5EF4-FFF2-40B4-BE49-F238E27FC236}">
                <a16:creationId xmlns:a16="http://schemas.microsoft.com/office/drawing/2014/main" id="{87432211-FA1B-4912-9E9D-1B7D1089CA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857730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02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317948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03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78166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04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05</a:t>
            </a:r>
            <a:endParaRPr lang="en-GB"/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439731EE-FBBF-4749-8E58-161D1BD24B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7512" y="315947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">
            <a:extLst>
              <a:ext uri="{FF2B5EF4-FFF2-40B4-BE49-F238E27FC236}">
                <a16:creationId xmlns:a16="http://schemas.microsoft.com/office/drawing/2014/main" id="{53987512-4428-45A6-9E5A-ECC62C5A784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61856" y="314370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317946" y="316263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782290" y="314686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314502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" name="Text Placeholder 2">
            <a:extLst>
              <a:ext uri="{FF2B5EF4-FFF2-40B4-BE49-F238E27FC236}">
                <a16:creationId xmlns:a16="http://schemas.microsoft.com/office/drawing/2014/main" id="{02847DEE-A5F9-4C29-B154-1544212CE4E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89257" y="514240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2">
            <a:extLst>
              <a:ext uri="{FF2B5EF4-FFF2-40B4-BE49-F238E27FC236}">
                <a16:creationId xmlns:a16="http://schemas.microsoft.com/office/drawing/2014/main" id="{8FDB1794-F8AB-4138-AAA1-A52DD6E79A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853601" y="512663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09691" y="514556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774035" y="512979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512795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Footer Placeholder 6">
            <a:extLst>
              <a:ext uri="{FF2B5EF4-FFF2-40B4-BE49-F238E27FC236}">
                <a16:creationId xmlns:a16="http://schemas.microsoft.com/office/drawing/2014/main" id="{DF893CCF-7E5D-47A2-BEAA-290732009D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29F35-82A7-4CD0-B264-4B8953C83B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52728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 Colum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85725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80975" indent="-180975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2D7B9C33-7860-4A78-8365-326155D0DC4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75CA6DF9-3D47-44A0-9AE6-EE81F5778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8D1DF11-64D7-450B-92C0-FFBB3964A6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7948321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538F56B-ECAD-430D-86B3-CA43CA930B1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411000" y="1945849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03EC794A-FC92-4AAF-AE86-050FA799F5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1586DA7-028B-46B2-8DE5-CD490E3A72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CAD60B4-85E8-4266-A468-73C7C71B2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363966883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42A75EB-71CE-4543-ADEB-9A7264CF8B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3807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8" name="Text Placeholder 25">
            <a:extLst>
              <a:ext uri="{FF2B5EF4-FFF2-40B4-BE49-F238E27FC236}">
                <a16:creationId xmlns:a16="http://schemas.microsoft.com/office/drawing/2014/main" id="{BCD1C719-53DB-4DE0-999D-A83E05EEDF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46803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9" name="Text Placeholder 25">
            <a:extLst>
              <a:ext uri="{FF2B5EF4-FFF2-40B4-BE49-F238E27FC236}">
                <a16:creationId xmlns:a16="http://schemas.microsoft.com/office/drawing/2014/main" id="{933372D4-A8C3-4A0E-8BC4-35430C7D44C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00432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0" name="Text Placeholder 25">
            <a:extLst>
              <a:ext uri="{FF2B5EF4-FFF2-40B4-BE49-F238E27FC236}">
                <a16:creationId xmlns:a16="http://schemas.microsoft.com/office/drawing/2014/main" id="{12AE7316-6AEE-48C3-B262-F48CA4EEC2F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43428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3" name="Footer Placeholder 6">
            <a:extLst>
              <a:ext uri="{FF2B5EF4-FFF2-40B4-BE49-F238E27FC236}">
                <a16:creationId xmlns:a16="http://schemas.microsoft.com/office/drawing/2014/main" id="{309F3C08-340B-4262-BE8D-7E0EC29922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4" name="Slide Number Placeholder 9">
            <a:extLst>
              <a:ext uri="{FF2B5EF4-FFF2-40B4-BE49-F238E27FC236}">
                <a16:creationId xmlns:a16="http://schemas.microsoft.com/office/drawing/2014/main" id="{D8EB1850-1114-408C-A2E4-09622ECAB10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F77B05F-F630-4362-9489-073AAEA27D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1F1FA6F-6B29-4B4E-AC66-C4BE76E3CE7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93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E4CAE9FD-CC6F-4B12-A12B-D279A44AE3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88001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</p:spTree>
    <p:extLst>
      <p:ext uri="{BB962C8B-B14F-4D97-AF65-F5344CB8AC3E}">
        <p14:creationId xmlns:p14="http://schemas.microsoft.com/office/powerpoint/2010/main" val="75927270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928174"/>
            <a:ext cx="12191998" cy="44052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812566C2-550C-428D-9F25-97BA6ACC6D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802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50056D35-DC61-4D0F-B0C2-B062F0DD56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5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4F54E055-BFC8-4967-AD47-F082AF139F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02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17A9C8F1-2B45-4232-AB93-26450C4625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5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D7F2FA40-8443-415A-BCEC-57907AD7C3D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802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4DFB22B2-7DED-4F30-9EEB-FB3AE9BC745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45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80618C3C-6BED-4F24-8BC3-0BA6574D0AA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317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18039CC1-2EA8-4C41-979B-4D20FB6809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5A1FF5E6-3D7C-4087-AFF1-48A99E04CE2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317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BB2C9A29-68E9-4B62-8688-F3255D0DC6F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353E4163-5423-4488-93B4-72E261A04E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17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8" name="Text Placeholder 41">
            <a:extLst>
              <a:ext uri="{FF2B5EF4-FFF2-40B4-BE49-F238E27FC236}">
                <a16:creationId xmlns:a16="http://schemas.microsoft.com/office/drawing/2014/main" id="{EC5DB573-F8E8-4DEA-AEA6-9E4D218638C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822CE51-5843-4191-8C13-33C560880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94660267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754996"/>
            <a:ext cx="12191998" cy="457845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FFD4091F-4540-47D0-9D89-6BCB0291E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53346DC2-FD7B-49C4-8AAB-B359175B7BF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1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AC42A312-9979-4A01-9158-57CD4C8CA33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81000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E6AD4056-7137-4DCF-A115-E508E36FD57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80999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C209F1A0-3F27-4F19-87B3-B17D5D0FF7A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103436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8FD5C041-A388-41EA-ABD7-248D2E8C55D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103435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C81EE5FD-7567-45E7-B11B-1CDE922D19C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103434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9538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EABE65-FD93-400B-BAEB-2365B18C10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575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47176E6-F8F4-49FC-A12D-CEB5CA6D60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9575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7AF73BDE-319D-4219-A5C1-DEB57921890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7451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0DF4D03-0BE8-4D31-82A4-F39747E4BF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7451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12886E8-E82B-4DDD-A8BC-ECFC852D39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85328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FB202F5B-10E0-4D04-965B-2D05E3CD18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85328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B25A7F6-703D-4F00-A0EC-1566C7F2D3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26FD1142-0F2D-45CB-946D-E52751A238A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133236912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9DFDC4DC-01F9-4BD6-BF0E-69725B783A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24432DF7-B547-40FF-A825-45A78D2CB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0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233FEC15-78F4-43A2-A63C-053354C1234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43456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9" name="Text Placeholder 41">
            <a:extLst>
              <a:ext uri="{FF2B5EF4-FFF2-40B4-BE49-F238E27FC236}">
                <a16:creationId xmlns:a16="http://schemas.microsoft.com/office/drawing/2014/main" id="{5EA5DC18-5421-48CE-8B85-A27A2B4A50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43456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1">
            <a:extLst>
              <a:ext uri="{FF2B5EF4-FFF2-40B4-BE49-F238E27FC236}">
                <a16:creationId xmlns:a16="http://schemas.microsoft.com/office/drawing/2014/main" id="{B0E58F9C-D684-471B-BFF1-044DDB7AB07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912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4FEA6FC0-ADA0-43DC-9D26-5E114F07372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05912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8F8EE1D1-37AE-4F77-B057-69366C5878F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968368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91797188-BDCB-4CC5-BCBE-30AD9A4C45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968368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9D5BE5DC-7FFD-494C-891B-8A475F26F4E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3A863DAF-BB89-4865-8063-7F6B6BAB45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770A387-6C5D-4E48-960C-8587FDB8A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4062992953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eople op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7E061C87-E253-4832-BFB5-F70B539C645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47889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2" name="Picture Placeholder 6">
            <a:extLst>
              <a:ext uri="{FF2B5EF4-FFF2-40B4-BE49-F238E27FC236}">
                <a16:creationId xmlns:a16="http://schemas.microsoft.com/office/drawing/2014/main" id="{9A86D32D-DCCA-FB41-AD6B-6114273CE67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815262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4" name="Picture Placeholder 6">
            <a:extLst>
              <a:ext uri="{FF2B5EF4-FFF2-40B4-BE49-F238E27FC236}">
                <a16:creationId xmlns:a16="http://schemas.microsoft.com/office/drawing/2014/main" id="{B3FA79AB-3280-3942-8811-1F447CF932F4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482635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F226A25B-26CF-1C41-961E-12B3F363E00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50007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06B7DA53-39E1-40DB-8E3D-AC55EE3B9D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29D22D92-75BB-4297-B843-557296E6CB8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E4BED6B8-7C00-4120-ABBA-D82093551A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7E68CA9F-EC78-418D-9A6B-0239F68A44B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89295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9FBF1373-D4D2-4CA6-A203-BB25B6AE23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56667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E87B3F04-4595-45EE-8C80-2D66D058FF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039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FAFD4B38-A351-4DBA-B2B5-067F273948E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991412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</p:spTree>
    <p:extLst>
      <p:ext uri="{BB962C8B-B14F-4D97-AF65-F5344CB8AC3E}">
        <p14:creationId xmlns:p14="http://schemas.microsoft.com/office/powerpoint/2010/main" val="4123792965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and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2756647"/>
            <a:ext cx="11430000" cy="3404441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675CFBC7-8550-4627-B678-91E938DCAAF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1000" y="1943955"/>
            <a:ext cx="11430000" cy="631158"/>
          </a:xfr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8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95307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1364265"/>
            <a:ext cx="11430000" cy="4796823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978730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 op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0008FD0-AD04-4958-83B5-7F755546EE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021" y="1162878"/>
            <a:ext cx="8318714" cy="3761961"/>
          </a:xfrm>
        </p:spPr>
        <p:txBody>
          <a:bodyPr tIns="0" bIns="0" anchor="b">
            <a:normAutofit/>
          </a:bodyPr>
          <a:lstStyle>
            <a:lvl1pPr algn="l">
              <a:lnSpc>
                <a:spcPct val="75000"/>
              </a:lnSpc>
              <a:defRPr sz="80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Section</a:t>
            </a:r>
            <a:br>
              <a:rPr lang="en-US"/>
            </a:br>
            <a:r>
              <a:rPr lang="en-US"/>
              <a:t>Divider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7A752BD-0233-480F-B3CC-46DD91E932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020" y="5034169"/>
            <a:ext cx="8318713" cy="1328521"/>
          </a:xfrm>
        </p:spPr>
        <p:txBody>
          <a:bodyPr tIns="0" bIns="0" anchor="t">
            <a:normAutofit/>
          </a:bodyPr>
          <a:lstStyle>
            <a:lvl1pPr algn="l">
              <a:lnSpc>
                <a:spcPct val="90000"/>
              </a:lnSpc>
              <a:defRPr sz="2400" b="0" cap="none">
                <a:solidFill>
                  <a:schemeClr val="bg1"/>
                </a:solidFill>
                <a:latin typeface="+mn-lt"/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92578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op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0BC0154-8F01-45CA-849D-34E3AE00CF0F}"/>
              </a:ext>
            </a:extLst>
          </p:cNvPr>
          <p:cNvGrpSpPr>
            <a:grpSpLocks noChangeAspect="1"/>
          </p:cNvGrpSpPr>
          <p:nvPr/>
        </p:nvGrpSpPr>
        <p:grpSpPr>
          <a:xfrm>
            <a:off x="9554578" y="5833249"/>
            <a:ext cx="2256422" cy="605651"/>
            <a:chOff x="9638475" y="1219200"/>
            <a:chExt cx="1389888" cy="373063"/>
          </a:xfrm>
          <a:effectLst/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AE479CA-D694-4F45-BD11-38BE36BB3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38475" y="1372165"/>
              <a:ext cx="1389888" cy="220098"/>
            </a:xfrm>
            <a:prstGeom prst="rect">
              <a:avLst/>
            </a:prstGeom>
          </p:spPr>
        </p:pic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86BA3475-6F51-4B12-8741-D94FF0367C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448925" y="1219200"/>
              <a:ext cx="136525" cy="147638"/>
            </a:xfrm>
            <a:custGeom>
              <a:avLst/>
              <a:gdLst>
                <a:gd name="T0" fmla="*/ 0 w 86"/>
                <a:gd name="T1" fmla="*/ 66 h 93"/>
                <a:gd name="T2" fmla="*/ 50 w 86"/>
                <a:gd name="T3" fmla="*/ 47 h 93"/>
                <a:gd name="T4" fmla="*/ 0 w 86"/>
                <a:gd name="T5" fmla="*/ 27 h 93"/>
                <a:gd name="T6" fmla="*/ 0 w 86"/>
                <a:gd name="T7" fmla="*/ 0 h 93"/>
                <a:gd name="T8" fmla="*/ 86 w 86"/>
                <a:gd name="T9" fmla="*/ 35 h 93"/>
                <a:gd name="T10" fmla="*/ 86 w 86"/>
                <a:gd name="T11" fmla="*/ 57 h 93"/>
                <a:gd name="T12" fmla="*/ 0 w 86"/>
                <a:gd name="T13" fmla="*/ 93 h 93"/>
                <a:gd name="T14" fmla="*/ 0 w 86"/>
                <a:gd name="T15" fmla="*/ 66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6" h="93">
                  <a:moveTo>
                    <a:pt x="0" y="66"/>
                  </a:moveTo>
                  <a:lnTo>
                    <a:pt x="50" y="47"/>
                  </a:lnTo>
                  <a:lnTo>
                    <a:pt x="0" y="27"/>
                  </a:lnTo>
                  <a:lnTo>
                    <a:pt x="0" y="0"/>
                  </a:lnTo>
                  <a:lnTo>
                    <a:pt x="86" y="35"/>
                  </a:lnTo>
                  <a:lnTo>
                    <a:pt x="86" y="57"/>
                  </a:lnTo>
                  <a:lnTo>
                    <a:pt x="0" y="93"/>
                  </a:lnTo>
                  <a:lnTo>
                    <a:pt x="0" y="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91AB612-3710-45D4-9355-B422D880C8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903537"/>
            <a:ext cx="11430000" cy="969963"/>
          </a:xfrm>
          <a:prstGeom prst="rect">
            <a:avLst/>
          </a:prstGeom>
        </p:spPr>
        <p:txBody>
          <a:bodyPr tIns="0" bIns="0" anchor="ctr">
            <a:normAutofit/>
          </a:bodyPr>
          <a:lstStyle>
            <a:lvl1pPr algn="ctr">
              <a:lnSpc>
                <a:spcPct val="80000"/>
              </a:lnSpc>
              <a:defRPr sz="36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Insert title at 36pt, min 30pt</a:t>
            </a:r>
          </a:p>
        </p:txBody>
      </p:sp>
    </p:spTree>
    <p:extLst>
      <p:ext uri="{BB962C8B-B14F-4D97-AF65-F5344CB8AC3E}">
        <p14:creationId xmlns:p14="http://schemas.microsoft.com/office/powerpoint/2010/main" val="20097703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copyr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0404CCCA-4129-4663-91C0-1D86079B09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F848CCB8-4740-4B43-BCEF-5A546C1195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281575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urple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77305F73-3F10-4781-AEC1-D21924227102}"/>
              </a:ext>
            </a:extLst>
          </p:cNvPr>
          <p:cNvSpPr txBox="1">
            <a:spLocks/>
          </p:cNvSpPr>
          <p:nvPr/>
        </p:nvSpPr>
        <p:spPr>
          <a:xfrm>
            <a:off x="355739" y="6537399"/>
            <a:ext cx="4141956" cy="161962"/>
          </a:xfrm>
          <a:prstGeom prst="rect">
            <a:avLst/>
          </a:prstGeom>
        </p:spPr>
        <p:txBody>
          <a:bodyPr vert="horz" wrap="square" lIns="0" tIns="60930" rIns="0" bIns="60930"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lang="en-US" sz="800" b="0" i="0" kern="1200">
                <a:solidFill>
                  <a:schemeClr val="tx1">
                    <a:alpha val="50000"/>
                  </a:schemeClr>
                </a:solidFill>
                <a:latin typeface="Graphik Regular" panose="020B0503030202060203" pitchFamily="34" charset="77"/>
                <a:ea typeface="Roboto Light" panose="02000000000000000000" pitchFamily="2" charset="0"/>
                <a:cs typeface="Gotham Medium" pitchFamily="2" charset="0"/>
              </a:defRPr>
            </a:lvl1pPr>
            <a:lvl2pPr marL="60944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12188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828328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2437771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3047213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3656656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4266097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4875541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r>
              <a:rPr lang="en-GB" sz="800" dirty="0">
                <a:solidFill>
                  <a:schemeClr val="bg1">
                    <a:alpha val="50000"/>
                  </a:schemeClr>
                </a:solidFill>
              </a:rPr>
              <a:t>Copyright © 2020 Accenture. All rights reserved.</a:t>
            </a:r>
            <a:endParaRPr lang="en-AU" sz="800" dirty="0">
              <a:solidFill>
                <a:schemeClr val="bg1"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8951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est Master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F3EA-AEAF-C548-BD0C-AD254597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816B7-92BE-DC41-81A1-B94823C5B24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4488" y="1219200"/>
            <a:ext cx="11510962" cy="4838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4E4E6-DE9C-9B41-A230-03A839F777D8}"/>
              </a:ext>
            </a:extLst>
          </p:cNvPr>
          <p:cNvSpPr txBox="1">
            <a:spLocks/>
          </p:cNvSpPr>
          <p:nvPr/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20631652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1" name="Footer Placeholder 6">
            <a:extLst>
              <a:ext uri="{FF2B5EF4-FFF2-40B4-BE49-F238E27FC236}">
                <a16:creationId xmlns:a16="http://schemas.microsoft.com/office/drawing/2014/main" id="{91C0017E-4521-4295-9033-A405A2FA81F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43EE0978-DC3A-4D86-83BC-C2F42549CA6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74B3D656-7B78-4FFC-881D-DD01CAC5AD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952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9318202-F5EF-4F94-A2FB-2820022F3F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bg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pic>
        <p:nvPicPr>
          <p:cNvPr id="8" name="Picture 7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3337CFDD-6A45-4B8B-A44A-81963DA234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70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Graphik Black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Medium"/>
                <a:ea typeface="Graphik Medium"/>
                <a:cs typeface="Graphik Medium"/>
                <a:sym typeface="Helvetica Neue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Extralight"/>
                <a:ea typeface="Graphik Extralight"/>
                <a:cs typeface="Graphik Extralight"/>
                <a:sym typeface="Helvetica Neue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raphik" panose="020B0503030202060203" pitchFamily="34" charset="77"/>
                <a:ea typeface="Helvetica Neue Light"/>
                <a:cs typeface="Helvetica Neue"/>
                <a:sym typeface="Helvetica Neue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raphik" panose="020B0503030202060203" pitchFamily="34" charset="77"/>
              <a:ea typeface="Helvetica Neue Light"/>
              <a:cs typeface="Helvetica Neue"/>
              <a:sym typeface="Helvetica Neue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Graphik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Graphik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7.xml"/><Relationship Id="rId26" Type="http://schemas.openxmlformats.org/officeDocument/2006/relationships/image" Target="../media/image12.png"/><Relationship Id="rId3" Type="http://schemas.openxmlformats.org/officeDocument/2006/relationships/slideLayout" Target="../slideLayouts/slideLayout12.xml"/><Relationship Id="rId21" Type="http://schemas.openxmlformats.org/officeDocument/2006/relationships/image" Target="../media/image7.png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6.xml"/><Relationship Id="rId25" Type="http://schemas.openxmlformats.org/officeDocument/2006/relationships/image" Target="../media/image11.png"/><Relationship Id="rId2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25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24" Type="http://schemas.openxmlformats.org/officeDocument/2006/relationships/image" Target="../media/image10.png"/><Relationship Id="rId5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24.xml"/><Relationship Id="rId23" Type="http://schemas.openxmlformats.org/officeDocument/2006/relationships/image" Target="../media/image9.png"/><Relationship Id="rId28" Type="http://schemas.openxmlformats.org/officeDocument/2006/relationships/image" Target="../media/image14.png"/><Relationship Id="rId10" Type="http://schemas.openxmlformats.org/officeDocument/2006/relationships/slideLayout" Target="../slideLayouts/slideLayout19.xml"/><Relationship Id="rId19" Type="http://schemas.openxmlformats.org/officeDocument/2006/relationships/slideLayout" Target="../slideLayouts/slideLayout28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Relationship Id="rId22" Type="http://schemas.openxmlformats.org/officeDocument/2006/relationships/image" Target="../media/image8.png"/><Relationship Id="rId27" Type="http://schemas.openxmlformats.org/officeDocument/2006/relationships/image" Target="../media/image13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3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5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4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42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8.xml"/><Relationship Id="rId18" Type="http://schemas.openxmlformats.org/officeDocument/2006/relationships/slideLayout" Target="../slideLayouts/slideLayout63.xml"/><Relationship Id="rId26" Type="http://schemas.openxmlformats.org/officeDocument/2006/relationships/slideLayout" Target="../slideLayouts/slideLayout71.xml"/><Relationship Id="rId39" Type="http://schemas.openxmlformats.org/officeDocument/2006/relationships/slideLayout" Target="../slideLayouts/slideLayout84.xml"/><Relationship Id="rId21" Type="http://schemas.openxmlformats.org/officeDocument/2006/relationships/slideLayout" Target="../slideLayouts/slideLayout66.xml"/><Relationship Id="rId34" Type="http://schemas.openxmlformats.org/officeDocument/2006/relationships/slideLayout" Target="../slideLayouts/slideLayout79.xml"/><Relationship Id="rId42" Type="http://schemas.openxmlformats.org/officeDocument/2006/relationships/slideLayout" Target="../slideLayouts/slideLayout87.xml"/><Relationship Id="rId47" Type="http://schemas.openxmlformats.org/officeDocument/2006/relationships/slideLayout" Target="../slideLayouts/slideLayout92.xml"/><Relationship Id="rId50" Type="http://schemas.openxmlformats.org/officeDocument/2006/relationships/slideLayout" Target="../slideLayouts/slideLayout95.xml"/><Relationship Id="rId55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52.xml"/><Relationship Id="rId2" Type="http://schemas.openxmlformats.org/officeDocument/2006/relationships/slideLayout" Target="../slideLayouts/slideLayout47.xml"/><Relationship Id="rId16" Type="http://schemas.openxmlformats.org/officeDocument/2006/relationships/slideLayout" Target="../slideLayouts/slideLayout61.xml"/><Relationship Id="rId29" Type="http://schemas.openxmlformats.org/officeDocument/2006/relationships/slideLayout" Target="../slideLayouts/slideLayout74.xml"/><Relationship Id="rId11" Type="http://schemas.openxmlformats.org/officeDocument/2006/relationships/slideLayout" Target="../slideLayouts/slideLayout56.xml"/><Relationship Id="rId24" Type="http://schemas.openxmlformats.org/officeDocument/2006/relationships/slideLayout" Target="../slideLayouts/slideLayout69.xml"/><Relationship Id="rId32" Type="http://schemas.openxmlformats.org/officeDocument/2006/relationships/slideLayout" Target="../slideLayouts/slideLayout77.xml"/><Relationship Id="rId37" Type="http://schemas.openxmlformats.org/officeDocument/2006/relationships/slideLayout" Target="../slideLayouts/slideLayout82.xml"/><Relationship Id="rId40" Type="http://schemas.openxmlformats.org/officeDocument/2006/relationships/slideLayout" Target="../slideLayouts/slideLayout85.xml"/><Relationship Id="rId45" Type="http://schemas.openxmlformats.org/officeDocument/2006/relationships/slideLayout" Target="../slideLayouts/slideLayout90.xml"/><Relationship Id="rId53" Type="http://schemas.openxmlformats.org/officeDocument/2006/relationships/slideLayout" Target="../slideLayouts/slideLayout98.xml"/><Relationship Id="rId58" Type="http://schemas.openxmlformats.org/officeDocument/2006/relationships/theme" Target="../theme/theme5.xml"/><Relationship Id="rId5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64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14" Type="http://schemas.openxmlformats.org/officeDocument/2006/relationships/slideLayout" Target="../slideLayouts/slideLayout59.xml"/><Relationship Id="rId22" Type="http://schemas.openxmlformats.org/officeDocument/2006/relationships/slideLayout" Target="../slideLayouts/slideLayout67.xml"/><Relationship Id="rId27" Type="http://schemas.openxmlformats.org/officeDocument/2006/relationships/slideLayout" Target="../slideLayouts/slideLayout72.xml"/><Relationship Id="rId30" Type="http://schemas.openxmlformats.org/officeDocument/2006/relationships/slideLayout" Target="../slideLayouts/slideLayout75.xml"/><Relationship Id="rId35" Type="http://schemas.openxmlformats.org/officeDocument/2006/relationships/slideLayout" Target="../slideLayouts/slideLayout80.xml"/><Relationship Id="rId43" Type="http://schemas.openxmlformats.org/officeDocument/2006/relationships/slideLayout" Target="../slideLayouts/slideLayout88.xml"/><Relationship Id="rId48" Type="http://schemas.openxmlformats.org/officeDocument/2006/relationships/slideLayout" Target="../slideLayouts/slideLayout93.xml"/><Relationship Id="rId56" Type="http://schemas.openxmlformats.org/officeDocument/2006/relationships/slideLayout" Target="../slideLayouts/slideLayout101.xml"/><Relationship Id="rId8" Type="http://schemas.openxmlformats.org/officeDocument/2006/relationships/slideLayout" Target="../slideLayouts/slideLayout53.xml"/><Relationship Id="rId51" Type="http://schemas.openxmlformats.org/officeDocument/2006/relationships/slideLayout" Target="../slideLayouts/slideLayout96.xml"/><Relationship Id="rId3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7.xml"/><Relationship Id="rId17" Type="http://schemas.openxmlformats.org/officeDocument/2006/relationships/slideLayout" Target="../slideLayouts/slideLayout62.xml"/><Relationship Id="rId25" Type="http://schemas.openxmlformats.org/officeDocument/2006/relationships/slideLayout" Target="../slideLayouts/slideLayout70.xml"/><Relationship Id="rId33" Type="http://schemas.openxmlformats.org/officeDocument/2006/relationships/slideLayout" Target="../slideLayouts/slideLayout78.xml"/><Relationship Id="rId38" Type="http://schemas.openxmlformats.org/officeDocument/2006/relationships/slideLayout" Target="../slideLayouts/slideLayout83.xml"/><Relationship Id="rId46" Type="http://schemas.openxmlformats.org/officeDocument/2006/relationships/slideLayout" Target="../slideLayouts/slideLayout91.xml"/><Relationship Id="rId20" Type="http://schemas.openxmlformats.org/officeDocument/2006/relationships/slideLayout" Target="../slideLayouts/slideLayout65.xml"/><Relationship Id="rId41" Type="http://schemas.openxmlformats.org/officeDocument/2006/relationships/slideLayout" Target="../slideLayouts/slideLayout86.xml"/><Relationship Id="rId54" Type="http://schemas.openxmlformats.org/officeDocument/2006/relationships/slideLayout" Target="../slideLayouts/slideLayout99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60.xml"/><Relationship Id="rId23" Type="http://schemas.openxmlformats.org/officeDocument/2006/relationships/slideLayout" Target="../slideLayouts/slideLayout68.xml"/><Relationship Id="rId28" Type="http://schemas.openxmlformats.org/officeDocument/2006/relationships/slideLayout" Target="../slideLayouts/slideLayout73.xml"/><Relationship Id="rId36" Type="http://schemas.openxmlformats.org/officeDocument/2006/relationships/slideLayout" Target="../slideLayouts/slideLayout81.xml"/><Relationship Id="rId49" Type="http://schemas.openxmlformats.org/officeDocument/2006/relationships/slideLayout" Target="../slideLayouts/slideLayout94.xml"/><Relationship Id="rId57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55.xml"/><Relationship Id="rId31" Type="http://schemas.openxmlformats.org/officeDocument/2006/relationships/slideLayout" Target="../slideLayouts/slideLayout76.xml"/><Relationship Id="rId44" Type="http://schemas.openxmlformats.org/officeDocument/2006/relationships/slideLayout" Target="../slideLayouts/slideLayout89.xml"/><Relationship Id="rId52" Type="http://schemas.openxmlformats.org/officeDocument/2006/relationships/slideLayout" Target="../slideLayouts/slideLayout9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Graphik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/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6F6B3343-B4EF-4BC5-A753-D80C4EADB3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99A5035-44EB-4653-8F65-351427FC9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Accenture_Technology" hidden="1">
            <a:extLst>
              <a:ext uri="{FF2B5EF4-FFF2-40B4-BE49-F238E27FC236}">
                <a16:creationId xmlns:a16="http://schemas.microsoft.com/office/drawing/2014/main" id="{7F561B55-4A32-431D-8BA4-1A51234302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243985"/>
            <a:ext cx="2024293" cy="333289"/>
          </a:xfrm>
          <a:prstGeom prst="rect">
            <a:avLst/>
          </a:prstGeom>
        </p:spPr>
      </p:pic>
      <p:pic>
        <p:nvPicPr>
          <p:cNvPr id="9" name="Accenture_Strategy" hidden="1">
            <a:extLst>
              <a:ext uri="{FF2B5EF4-FFF2-40B4-BE49-F238E27FC236}">
                <a16:creationId xmlns:a16="http://schemas.microsoft.com/office/drawing/2014/main" id="{C33EDD26-4BAD-4452-B33F-48241F98D591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10" name="Accenture_Operations" hidden="1">
            <a:extLst>
              <a:ext uri="{FF2B5EF4-FFF2-40B4-BE49-F238E27FC236}">
                <a16:creationId xmlns:a16="http://schemas.microsoft.com/office/drawing/2014/main" id="{88E87CB4-5755-499D-91D5-9B8DF482A9E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11" name="Accenture_Mobility" hidden="1">
            <a:extLst>
              <a:ext uri="{FF2B5EF4-FFF2-40B4-BE49-F238E27FC236}">
                <a16:creationId xmlns:a16="http://schemas.microsoft.com/office/drawing/2014/main" id="{CADE9D37-50D3-4E92-9D49-2C716078D159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12" name="Accenture_Interactive" hidden="1">
            <a:extLst>
              <a:ext uri="{FF2B5EF4-FFF2-40B4-BE49-F238E27FC236}">
                <a16:creationId xmlns:a16="http://schemas.microsoft.com/office/drawing/2014/main" id="{279B5443-5FDB-4D90-9C86-4ACF31740D6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13" name="Accenture_Analytics" hidden="1">
            <a:extLst>
              <a:ext uri="{FF2B5EF4-FFF2-40B4-BE49-F238E27FC236}">
                <a16:creationId xmlns:a16="http://schemas.microsoft.com/office/drawing/2014/main" id="{7E3C0033-CE00-4F44-B4DA-32082D33C83C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4" name="Accenture_Digital" hidden="1">
            <a:extLst>
              <a:ext uri="{FF2B5EF4-FFF2-40B4-BE49-F238E27FC236}">
                <a16:creationId xmlns:a16="http://schemas.microsoft.com/office/drawing/2014/main" id="{D9D2CA43-44F5-4DDC-AF71-4F5FDFF1B30C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15" name="Accenture_Consulting" hidden="1">
            <a:extLst>
              <a:ext uri="{FF2B5EF4-FFF2-40B4-BE49-F238E27FC236}">
                <a16:creationId xmlns:a16="http://schemas.microsoft.com/office/drawing/2014/main" id="{3344A5AB-F329-4B8E-8006-34B6E40B0028}"/>
              </a:ext>
            </a:extLst>
          </p:cNvPr>
          <p:cNvPicPr>
            <a:picLocks noChangeAspect="1"/>
          </p:cNvPicPr>
          <p:nvPr userDrawn="1"/>
        </p:nvPicPr>
        <p:blipFill>
          <a:blip r:embed="rId2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9" y="6244783"/>
            <a:ext cx="1942440" cy="33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</p:sldLayoutIdLst>
  <p:hf hdr="0" ft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6.xml"/><Relationship Id="rId4" Type="http://schemas.openxmlformats.org/officeDocument/2006/relationships/image" Target="../media/image2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 Semibold" panose="020B0503030202060203" pitchFamily="34" charset="77"/>
                <a:ea typeface="+mn-ea"/>
                <a:cs typeface="+mn-cs"/>
              </a:rPr>
              <a:t>InsightPilot AI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2164080" y="5990476"/>
            <a:ext cx="7863840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 Regular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2164080" y="5972549"/>
            <a:ext cx="786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t>Accenture Innovation Challenge 2026  ·  Detailed Business Proposal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6446520"/>
            <a:ext cx="941832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 dirty="0">
                <a:solidFill>
                  <a:srgbClr val="FFFFFF"/>
                </a:solidFill>
                <a:latin typeface="Arial"/>
              </a:rPr>
              <a:t>Team </a:t>
            </a:r>
            <a:r>
              <a:rPr sz="1600" b="0" i="0" dirty="0" err="1">
                <a:solidFill>
                  <a:srgbClr val="FFFFFF"/>
                </a:solidFill>
                <a:latin typeface="Arial"/>
              </a:rPr>
              <a:t>SignalCraft</a:t>
            </a:r>
            <a:r>
              <a:rPr sz="1600" b="0" i="0" dirty="0">
                <a:solidFill>
                  <a:srgbClr val="FFFFFF"/>
                </a:solidFill>
                <a:latin typeface="Arial"/>
              </a:rPr>
              <a:t>  ·  IIT Patna  ·  Track 3: BusinessIntelligence.ai</a:t>
            </a:r>
          </a:p>
        </p:txBody>
      </p:sp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2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3E37827-E5D7-46FD-9143-ABFBF88A628E}"/>
              </a:ext>
            </a:extLst>
          </p:cNvPr>
          <p:cNvSpPr/>
          <p:nvPr/>
        </p:nvSpPr>
        <p:spPr>
          <a:xfrm>
            <a:off x="7128930" y="2504494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/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Ayush Nathani (Team Leader)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6E72D5-38A8-4FA5-9EBD-60021A357B2A}"/>
              </a:ext>
            </a:extLst>
          </p:cNvPr>
          <p:cNvSpPr/>
          <p:nvPr/>
        </p:nvSpPr>
        <p:spPr>
          <a:xfrm>
            <a:off x="852718" y="4463806"/>
            <a:ext cx="1481237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Photo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03A2336-9DAB-4FE3-86E5-A5694B473965}"/>
              </a:ext>
            </a:extLst>
          </p:cNvPr>
          <p:cNvCxnSpPr>
            <a:cxnSpLocks/>
          </p:cNvCxnSpPr>
          <p:nvPr/>
        </p:nvCxnSpPr>
        <p:spPr>
          <a:xfrm>
            <a:off x="6096000" y="1521230"/>
            <a:ext cx="0" cy="4523725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Placeholder 27">
            <a:extLst>
              <a:ext uri="{FF2B5EF4-FFF2-40B4-BE49-F238E27FC236}">
                <a16:creationId xmlns:a16="http://schemas.microsoft.com/office/drawing/2014/main" id="{83134DD2-B1F2-44EA-BCAB-CB7F6D0B5057}"/>
              </a:ext>
            </a:extLst>
          </p:cNvPr>
          <p:cNvSpPr txBox="1">
            <a:spLocks/>
          </p:cNvSpPr>
          <p:nvPr/>
        </p:nvSpPr>
        <p:spPr>
          <a:xfrm>
            <a:off x="2751413" y="4203349"/>
            <a:ext cx="3300000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Rajababu Kumar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57CC230-E21C-4184-9D11-81950CC08A89}"/>
              </a:ext>
            </a:extLst>
          </p:cNvPr>
          <p:cNvCxnSpPr/>
          <p:nvPr/>
        </p:nvCxnSpPr>
        <p:spPr>
          <a:xfrm>
            <a:off x="2751413" y="5101825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 Placeholder 27">
            <a:extLst>
              <a:ext uri="{FF2B5EF4-FFF2-40B4-BE49-F238E27FC236}">
                <a16:creationId xmlns:a16="http://schemas.microsoft.com/office/drawing/2014/main" id="{AB89B70E-DDF2-41D3-9411-6AA78204B1DA}"/>
              </a:ext>
            </a:extLst>
          </p:cNvPr>
          <p:cNvSpPr txBox="1">
            <a:spLocks/>
          </p:cNvSpPr>
          <p:nvPr/>
        </p:nvSpPr>
        <p:spPr>
          <a:xfrm>
            <a:off x="8815214" y="2098914"/>
            <a:ext cx="2914871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Amrit Sugandh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388F804-0525-4F8E-A5CE-A9E521C1E260}"/>
              </a:ext>
            </a:extLst>
          </p:cNvPr>
          <p:cNvCxnSpPr/>
          <p:nvPr/>
        </p:nvCxnSpPr>
        <p:spPr>
          <a:xfrm>
            <a:off x="8815215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/>
        </p:nvGraphicFramePr>
        <p:xfrm>
          <a:off x="461913" y="1173024"/>
          <a:ext cx="11617737" cy="3962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A100FF"/>
                          </a:solidFill>
                        </a:rPr>
                        <a:t>TEAM NAME:</a:t>
                      </a:r>
                      <a:r>
                        <a:rPr sz="2000" b="1" dirty="0">
                          <a:solidFill>
                            <a:srgbClr val="1A1A1A"/>
                          </a:solidFill>
                          <a:latin typeface="Arial"/>
                        </a:rPr>
                        <a:t>  Team </a:t>
                      </a:r>
                      <a:r>
                        <a:rPr sz="2000" b="1" dirty="0" err="1">
                          <a:solidFill>
                            <a:srgbClr val="1A1A1A"/>
                          </a:solidFill>
                          <a:latin typeface="Arial"/>
                        </a:rPr>
                        <a:t>SignalCraft</a:t>
                      </a:r>
                      <a:endParaRPr sz="2000" b="1" dirty="0">
                        <a:solidFill>
                          <a:srgbClr val="1A1A1A"/>
                        </a:solidFill>
                        <a:latin typeface="Arial"/>
                      </a:endParaRP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550034" y="3141433"/>
            <a:ext cx="34351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 Indian Institute of Technology, Patna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 MCA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 2027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9131AF-0078-459E-83A3-73A8BC9A11B8}"/>
              </a:ext>
            </a:extLst>
          </p:cNvPr>
          <p:cNvSpPr txBox="1"/>
          <p:nvPr/>
        </p:nvSpPr>
        <p:spPr>
          <a:xfrm>
            <a:off x="2637614" y="5236045"/>
            <a:ext cx="345838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 Indian Institute of Technology, Patna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 MCA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 2027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AF310E-EC91-4906-9FCC-95C833C3D011}"/>
              </a:ext>
            </a:extLst>
          </p:cNvPr>
          <p:cNvSpPr txBox="1"/>
          <p:nvPr/>
        </p:nvSpPr>
        <p:spPr>
          <a:xfrm>
            <a:off x="8753744" y="3141433"/>
            <a:ext cx="355895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 Indian Institute of Technology, Patna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 MCA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 2027</a:t>
            </a:r>
          </a:p>
        </p:txBody>
      </p:sp>
      <p:pic>
        <p:nvPicPr>
          <p:cNvPr id="68" name="Picture 67" descr="ayush.png"/>
          <p:cNvPicPr>
            <a:picLocks noChangeAspect="1"/>
          </p:cNvPicPr>
          <p:nvPr/>
        </p:nvPicPr>
        <p:blipFill>
          <a:blip r:embed="rId3"/>
          <a:srcRect t="1950" b="1950"/>
          <a:stretch>
            <a:fillRect/>
          </a:stretch>
        </p:blipFill>
        <p:spPr>
          <a:xfrm>
            <a:off x="755991" y="2405772"/>
            <a:ext cx="1434219" cy="1471323"/>
          </a:xfrm>
          <a:prstGeom prst="rect">
            <a:avLst/>
          </a:prstGeom>
        </p:spPr>
      </p:pic>
      <p:pic>
        <p:nvPicPr>
          <p:cNvPr id="69" name="Picture 68" descr="amrit.png"/>
          <p:cNvPicPr>
            <a:picLocks noChangeAspect="1"/>
          </p:cNvPicPr>
          <p:nvPr/>
        </p:nvPicPr>
        <p:blipFill>
          <a:blip r:embed="rId4"/>
          <a:srcRect l="2205" r="2205"/>
          <a:stretch>
            <a:fillRect/>
          </a:stretch>
        </p:blipFill>
        <p:spPr>
          <a:xfrm>
            <a:off x="7005470" y="2405772"/>
            <a:ext cx="1434219" cy="1471323"/>
          </a:xfrm>
          <a:prstGeom prst="rect">
            <a:avLst/>
          </a:prstGeom>
        </p:spPr>
      </p:pic>
      <p:pic>
        <p:nvPicPr>
          <p:cNvPr id="70" name="Picture 69" descr="rajababu.png"/>
          <p:cNvPicPr>
            <a:picLocks noChangeAspect="1"/>
          </p:cNvPicPr>
          <p:nvPr/>
        </p:nvPicPr>
        <p:blipFill>
          <a:blip r:embed="rId5"/>
          <a:srcRect l="2084" r="2084"/>
          <a:stretch>
            <a:fillRect/>
          </a:stretch>
        </p:blipFill>
        <p:spPr>
          <a:xfrm>
            <a:off x="776635" y="4361533"/>
            <a:ext cx="1434219" cy="147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82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85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525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850"/>
                                  <p:tgtEl>
                                    <p:spTgt spid="3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155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85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155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850"/>
                                  <p:tgtEl>
                                    <p:spTgt spid="2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1155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850"/>
                                  <p:tgtEl>
                                    <p:spTgt spid="6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1155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850"/>
                                  <p:tgtEl>
                                    <p:spTgt spid="3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1155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85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1155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850"/>
                                  <p:tgtEl>
                                    <p:spTgt spid="2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850"/>
                                  <p:tgtEl>
                                    <p:spTgt spid="2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850"/>
                                  <p:tgtEl>
                                    <p:spTgt spid="6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850"/>
                                  <p:tgtEl>
                                    <p:spTgt spid="6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850"/>
                                  <p:tgtEl>
                                    <p:spTgt spid="2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85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2205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850"/>
                                  <p:tgtEl>
                                    <p:spTgt spid="3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2205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850"/>
                                  <p:tgtEl>
                                    <p:spTgt spid="7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2205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850"/>
                                  <p:tgtEl>
                                    <p:spTgt spid="6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2205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850"/>
                                  <p:tgtEl>
                                    <p:spTgt spid="6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2205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85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4" grpId="0"/>
      <p:bldP spid="18" grpId="0"/>
      <p:bldP spid="39" grpId="0"/>
      <p:bldP spid="30" grpId="0"/>
      <p:bldP spid="6" grpId="0"/>
      <p:bldP spid="8" grpId="0"/>
      <p:bldP spid="61" grpId="0"/>
      <p:bldP spid="64" grpId="0"/>
      <p:bldP spid="67" grpId="0"/>
      <p:bldP spid="29" grpId="0"/>
      <p:bldP spid="31" grpId="0"/>
      <p:bldP spid="26" grpId="0"/>
      <p:bldP spid="19" grpId="0"/>
      <p:bldP spid="20" grpId="0"/>
      <p:bldP spid="68" grpId="0"/>
      <p:bldP spid="69" grpId="0"/>
      <p:bldP spid="7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1458" y="989404"/>
            <a:ext cx="11282796" cy="1042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b="1" i="0" dirty="0">
                <a:solidFill>
                  <a:srgbClr val="7400C0"/>
                </a:solidFill>
                <a:latin typeface="Arial"/>
              </a:rPr>
              <a:t>The Investigation Latency Paradox: </a:t>
            </a:r>
            <a:r>
              <a:rPr b="0" i="0" dirty="0">
                <a:solidFill>
                  <a:srgbClr val="262626"/>
                </a:solidFill>
                <a:latin typeface="Arial"/>
              </a:rPr>
              <a:t>modern enterprises detect revenue and supply-chain anomalies within seconds, but diagnosing root causes and formulating a verified operational response takes </a:t>
            </a:r>
            <a:r>
              <a:rPr b="1" i="0" dirty="0">
                <a:solidFill>
                  <a:srgbClr val="262626"/>
                </a:solidFill>
                <a:latin typeface="Arial"/>
              </a:rPr>
              <a:t>14 to 28 business days</a:t>
            </a:r>
            <a:r>
              <a:rPr b="0" i="0" dirty="0">
                <a:solidFill>
                  <a:srgbClr val="262626"/>
                </a:solidFill>
                <a:latin typeface="Arial"/>
              </a:rPr>
              <a:t> of manual, cross-silo investigation.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1458" y="2283767"/>
            <a:ext cx="108813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 dirty="0">
                <a:solidFill>
                  <a:srgbClr val="595959"/>
                </a:solidFill>
                <a:latin typeface="Arial"/>
              </a:rPr>
              <a:t>This delay results in irreversible market-share attrition, distributor order cancellations, and unrecovered revenue.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880360"/>
            <a:ext cx="2350008" cy="708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FF50A0"/>
                </a:solidFill>
                <a:latin typeface="Arial"/>
              </a:rPr>
              <a:t>-$1.23M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647929"/>
            <a:ext cx="23500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NA-East Net Revenue Deficit  ·  7.97% vs Q2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7832" y="278892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55848" y="2880360"/>
            <a:ext cx="2350008" cy="708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100FF"/>
                </a:solidFill>
                <a:latin typeface="Arial"/>
              </a:rPr>
              <a:t>14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3641933"/>
            <a:ext cx="23500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SKU-8821 Zero-Stock Duration (Atlanta DC)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278892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2350008" cy="708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100FF"/>
                </a:solidFill>
                <a:latin typeface="Arial"/>
              </a:rPr>
              <a:t>29 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641933"/>
            <a:ext cx="23500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Distributor Orders Deferred  ·  $240K Value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69096" y="278892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97112" y="2880360"/>
            <a:ext cx="2350008" cy="708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50A0"/>
                </a:solidFill>
                <a:latin typeface="Arial"/>
              </a:rPr>
              <a:t>+310%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2810" y="3620947"/>
            <a:ext cx="23500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Customer Escalations  ·  </a:t>
            </a:r>
            <a:endParaRPr lang="en-IN" sz="1200" b="0" i="0" dirty="0">
              <a:solidFill>
                <a:srgbClr val="595959"/>
              </a:solidFill>
              <a:latin typeface="Arial"/>
            </a:endParaRPr>
          </a:p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34 → 142 Tickets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72000"/>
            <a:ext cx="10881360" cy="8510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Why this matters now: </a:t>
            </a:r>
          </a:p>
          <a:p>
            <a:pPr algn="l">
              <a:lnSpc>
                <a:spcPct val="130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Generic BI dashboards and GenAI chat tools show what happened, but cannot reliably explain why, prove it with verifiable evidence, or simulate the financial outcome of a fix — leaving executives to make high-stakes calls on incomplete, unverified information.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01 / 17</a:t>
            </a:r>
          </a:p>
        </p:txBody>
      </p:sp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Why Existing Business Intelligence Falls Short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4206240" cy="62179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552973"/>
            <a:ext cx="384048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Fragmented Enterprise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420624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 dirty="0">
                <a:solidFill>
                  <a:srgbClr val="A100FF"/>
                </a:solidFill>
                <a:latin typeface="Arial"/>
              </a:rPr>
              <a:t>+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136"/>
            <a:ext cx="4206240" cy="62179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412509"/>
            <a:ext cx="384048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Disconnected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420624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 dirty="0">
                <a:solidFill>
                  <a:srgbClr val="A100FF"/>
                </a:solidFill>
                <a:latin typeface="Arial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90672"/>
            <a:ext cx="4206240" cy="62179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272045"/>
            <a:ext cx="384048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Slow Decision Making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0752"/>
            <a:ext cx="420624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 dirty="0">
                <a:solidFill>
                  <a:srgbClr val="A100FF"/>
                </a:solidFill>
                <a:latin typeface="Arial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50208"/>
            <a:ext cx="4206240" cy="62179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131581"/>
            <a:ext cx="384048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AI Without Grounded Evidence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423160" y="4611589"/>
            <a:ext cx="457200" cy="527339"/>
          </a:xfrm>
          <a:prstGeom prst="downArrow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5138928"/>
            <a:ext cx="4206240" cy="621792"/>
          </a:xfrm>
          <a:prstGeom prst="roundRect">
            <a:avLst>
              <a:gd name="adj" fmla="val 6000"/>
            </a:avLst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5320301"/>
            <a:ext cx="384048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FFFFFF"/>
                </a:solidFill>
                <a:latin typeface="Arial"/>
              </a:rPr>
              <a:t>Poor Business Decisions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463040"/>
            <a:ext cx="6309360" cy="2788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b="1" i="0" dirty="0">
                <a:solidFill>
                  <a:srgbClr val="7400C0"/>
                </a:solidFill>
                <a:latin typeface="Arial"/>
              </a:rPr>
              <a:t>Dashboards indicate what happened.</a:t>
            </a:r>
          </a:p>
          <a:p>
            <a:pPr algn="l">
              <a:lnSpc>
                <a:spcPct val="135000"/>
              </a:lnSpc>
            </a:pPr>
            <a:r>
              <a:rPr sz="600" b="0" i="0" dirty="0">
                <a:solidFill>
                  <a:srgbClr val="262626"/>
                </a:solidFill>
                <a:latin typeface="Arial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600" b="0" i="0" dirty="0">
                <a:solidFill>
                  <a:srgbClr val="262626"/>
                </a:solidFill>
                <a:latin typeface="Arial"/>
              </a:rPr>
              <a:t>Diagnosing why requires weeks of manual cross-silo triage across ERP, CRM, and EDI systems — by which time distributor orders are cancelled and market share is lost.</a:t>
            </a:r>
          </a:p>
          <a:p>
            <a:pPr algn="l">
              <a:lnSpc>
                <a:spcPct val="135000"/>
              </a:lnSpc>
            </a:pPr>
            <a:r>
              <a:rPr sz="1600" b="0" i="0" dirty="0">
                <a:solidFill>
                  <a:srgbClr val="262626"/>
                </a:solidFill>
                <a:latin typeface="Arial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Generic GenAI chat tools compound the problem: </a:t>
            </a:r>
          </a:p>
          <a:p>
            <a:pPr algn="l">
              <a:lnSpc>
                <a:spcPct val="135000"/>
              </a:lnSpc>
            </a:pPr>
            <a:r>
              <a:rPr sz="1600" b="0" i="0" dirty="0">
                <a:solidFill>
                  <a:srgbClr val="262626"/>
                </a:solidFill>
                <a:latin typeface="Arial"/>
              </a:rPr>
              <a:t>they can invent metrics and lack a verifiable audit trail, which makes them unsuitable for high-stakes, auditable executive decisions.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02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1458" y="989497"/>
            <a:ext cx="11106017" cy="145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b="1" i="0" dirty="0" err="1">
                <a:solidFill>
                  <a:srgbClr val="7400C0"/>
                </a:solidFill>
                <a:latin typeface="Arial"/>
              </a:rPr>
              <a:t>InsightPilot</a:t>
            </a:r>
            <a:r>
              <a:rPr b="1" i="0" dirty="0">
                <a:solidFill>
                  <a:srgbClr val="7400C0"/>
                </a:solidFill>
                <a:latin typeface="Arial"/>
              </a:rPr>
              <a:t> AI</a:t>
            </a:r>
            <a:r>
              <a:rPr b="0" i="0" dirty="0">
                <a:solidFill>
                  <a:srgbClr val="262626"/>
                </a:solidFill>
                <a:latin typeface="Arial"/>
              </a:rPr>
              <a:t>  is an enterprise decision-intelligence platform that closes the Investigation Latency Paradox — reducing decision latency from 3 weeks to under 30 seconds by unifying deterministic analytics with </a:t>
            </a:r>
            <a:r>
              <a:rPr b="0" i="0" dirty="0" err="1">
                <a:solidFill>
                  <a:srgbClr val="262626"/>
                </a:solidFill>
                <a:latin typeface="Arial"/>
              </a:rPr>
              <a:t>LangGraph</a:t>
            </a:r>
            <a:r>
              <a:rPr b="0" i="0" dirty="0">
                <a:solidFill>
                  <a:srgbClr val="262626"/>
                </a:solidFill>
                <a:latin typeface="Arial"/>
              </a:rPr>
              <a:t> multi-agent intelligence, and verifying every conclusion with SHA-256 cryptographic evidence lineage.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60604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E6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919843"/>
            <a:ext cx="10241280" cy="6068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1" dirty="0">
                <a:solidFill>
                  <a:srgbClr val="7400C0"/>
                </a:solidFill>
                <a:latin typeface="Arial"/>
              </a:rPr>
              <a:t>“Don’t just tell executives what happened. Explain why it happened, prove it with evidence, recommend what to do, and simulate the potential business impact.”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Arial"/>
              </a:rPr>
              <a:t>Anomaly</a:t>
            </a:r>
          </a:p>
        </p:txBody>
      </p:sp>
      <p:sp>
        <p:nvSpPr>
          <p:cNvPr id="7" name="Chevron 6"/>
          <p:cNvSpPr/>
          <p:nvPr/>
        </p:nvSpPr>
        <p:spPr>
          <a:xfrm>
            <a:off x="2176272" y="459943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286000" y="420624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262626"/>
                </a:solidFill>
                <a:latin typeface="Arial"/>
              </a:rPr>
              <a:t>Root Cause</a:t>
            </a:r>
          </a:p>
        </p:txBody>
      </p:sp>
      <p:sp>
        <p:nvSpPr>
          <p:cNvPr id="9" name="Chevron 8"/>
          <p:cNvSpPr/>
          <p:nvPr/>
        </p:nvSpPr>
        <p:spPr>
          <a:xfrm>
            <a:off x="4005072" y="459943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14800" y="420624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262626"/>
                </a:solidFill>
                <a:latin typeface="Arial"/>
              </a:rPr>
              <a:t>Verified
Evidence</a:t>
            </a:r>
          </a:p>
        </p:txBody>
      </p:sp>
      <p:sp>
        <p:nvSpPr>
          <p:cNvPr id="11" name="Chevron 10"/>
          <p:cNvSpPr/>
          <p:nvPr/>
        </p:nvSpPr>
        <p:spPr>
          <a:xfrm>
            <a:off x="5833872" y="459943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943600" y="420624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262626"/>
                </a:solidFill>
                <a:latin typeface="Arial"/>
              </a:rPr>
              <a:t>Decision
Mechanics</a:t>
            </a:r>
          </a:p>
        </p:txBody>
      </p:sp>
      <p:sp>
        <p:nvSpPr>
          <p:cNvPr id="13" name="Chevron 12"/>
          <p:cNvSpPr/>
          <p:nvPr/>
        </p:nvSpPr>
        <p:spPr>
          <a:xfrm>
            <a:off x="7662672" y="459943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772400" y="420624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262626"/>
                </a:solidFill>
                <a:latin typeface="Arial"/>
              </a:rPr>
              <a:t>Recommended
Action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9491472" y="459943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601200" y="420624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00B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Arial"/>
              </a:rPr>
              <a:t>Predicted
Outcome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8640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" y="5577840"/>
            <a:ext cx="3264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A100FF"/>
                </a:solidFill>
                <a:latin typeface="Arial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016752"/>
            <a:ext cx="32644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Mathematical Precision — Deterministic Core Owns Truth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42232" y="548640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70248" y="5577840"/>
            <a:ext cx="3264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100FF"/>
                </a:solidFill>
                <a:latin typeface="Arial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6016752"/>
            <a:ext cx="3264408" cy="180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Speculative Hallucinations Permitted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7264" y="548640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0" y="5577840"/>
            <a:ext cx="32644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100FF"/>
                </a:solidFill>
                <a:latin typeface="Arial"/>
              </a:rPr>
              <a:t>11 Nodes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6016752"/>
            <a:ext cx="3264408" cy="180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 err="1">
                <a:solidFill>
                  <a:srgbClr val="595959"/>
                </a:solidFill>
                <a:latin typeface="Arial"/>
              </a:rPr>
              <a:t>LangGraph</a:t>
            </a:r>
            <a:r>
              <a:rPr sz="1200" b="0" i="0" dirty="0">
                <a:solidFill>
                  <a:srgbClr val="595959"/>
                </a:solidFill>
                <a:latin typeface="Arial"/>
              </a:rPr>
              <a:t> Multi-Agent Orchestration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03 / 17</a:t>
            </a:r>
          </a:p>
        </p:txBody>
      </p:sp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nodeType="afterEffect">
                            <p:stCondLst>
                              <p:cond delay="117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0" dur="70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nodeType="afterEffect">
                            <p:stCondLst>
                              <p:cond delay="1235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3" dur="700"/>
                                  <p:tgtEl>
                                    <p:spTgt spid="2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nodeType="afterEffect">
                            <p:stCondLst>
                              <p:cond delay="13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6" dur="700"/>
                                  <p:tgtEl>
                                    <p:spTgt spid="2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nodeType="afterEffect">
                            <p:stCondLst>
                              <p:cond delay="1365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9" dur="700"/>
                                  <p:tgtEl>
                                    <p:spTgt spid="2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nodeType="afterEffect">
                            <p:stCondLst>
                              <p:cond delay="143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2" dur="700"/>
                                  <p:tgtEl>
                                    <p:spTgt spid="2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nodeType="afterEffect">
                            <p:stCondLst>
                              <p:cond delay="1495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5" dur="700"/>
                                  <p:tgtEl>
                                    <p:spTgt spid="2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nodeType="afterEffect">
                            <p:stCondLst>
                              <p:cond delay="156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8" dur="700"/>
                                  <p:tgtEl>
                                    <p:spTgt spid="2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nodeType="afterEffect">
                            <p:stCondLst>
                              <p:cond delay="1625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1" dur="700"/>
                                  <p:tgtEl>
                                    <p:spTgt spid="2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How </a:t>
            </a:r>
            <a:r>
              <a:rPr sz="2200" b="1" i="0" dirty="0" err="1">
                <a:solidFill>
                  <a:srgbClr val="FFFFFF"/>
                </a:solidFill>
                <a:latin typeface="Arial"/>
              </a:rPr>
              <a:t>InsightPilot</a:t>
            </a:r>
            <a:r>
              <a:rPr sz="2200" b="1" i="0" dirty="0">
                <a:solidFill>
                  <a:srgbClr val="FFFFFF"/>
                </a:solidFill>
                <a:latin typeface="Arial"/>
              </a:rPr>
              <a:t> AI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1737360" cy="1051560"/>
          </a:xfrm>
          <a:prstGeom prst="roundRect">
            <a:avLst>
              <a:gd name="adj" fmla="val 6000"/>
            </a:avLst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Arial"/>
              </a:rPr>
              <a:t>Anomaly</a:t>
            </a:r>
          </a:p>
        </p:txBody>
      </p:sp>
      <p:sp>
        <p:nvSpPr>
          <p:cNvPr id="4" name="Chevron 3"/>
          <p:cNvSpPr/>
          <p:nvPr/>
        </p:nvSpPr>
        <p:spPr>
          <a:xfrm>
            <a:off x="2176272" y="206197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286000" y="1645920"/>
            <a:ext cx="173736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262626"/>
                </a:solidFill>
                <a:latin typeface="Arial"/>
              </a:rPr>
              <a:t>Root Cause</a:t>
            </a:r>
          </a:p>
        </p:txBody>
      </p:sp>
      <p:sp>
        <p:nvSpPr>
          <p:cNvPr id="6" name="Chevron 5"/>
          <p:cNvSpPr/>
          <p:nvPr/>
        </p:nvSpPr>
        <p:spPr>
          <a:xfrm>
            <a:off x="4005072" y="206197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114800" y="1645920"/>
            <a:ext cx="173736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262626"/>
                </a:solidFill>
                <a:latin typeface="Arial"/>
              </a:rPr>
              <a:t>Verified
Evidence</a:t>
            </a:r>
          </a:p>
        </p:txBody>
      </p:sp>
      <p:sp>
        <p:nvSpPr>
          <p:cNvPr id="8" name="Chevron 7"/>
          <p:cNvSpPr/>
          <p:nvPr/>
        </p:nvSpPr>
        <p:spPr>
          <a:xfrm>
            <a:off x="5833872" y="206197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943600" y="1645920"/>
            <a:ext cx="173736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262626"/>
                </a:solidFill>
                <a:latin typeface="Arial"/>
              </a:rPr>
              <a:t>Decision
Mechanics</a:t>
            </a:r>
          </a:p>
        </p:txBody>
      </p:sp>
      <p:sp>
        <p:nvSpPr>
          <p:cNvPr id="10" name="Chevron 9"/>
          <p:cNvSpPr/>
          <p:nvPr/>
        </p:nvSpPr>
        <p:spPr>
          <a:xfrm>
            <a:off x="7662672" y="206197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0" y="1645920"/>
            <a:ext cx="173736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262626"/>
                </a:solidFill>
                <a:latin typeface="Arial"/>
              </a:rPr>
              <a:t>Recommended
Action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9491472" y="2061972"/>
            <a:ext cx="237744" cy="219456"/>
          </a:xfrm>
          <a:prstGeom prst="chevron">
            <a:avLst/>
          </a:prstGeom>
          <a:solidFill>
            <a:srgbClr val="74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01200" y="1645920"/>
            <a:ext cx="1737360" cy="1051560"/>
          </a:xfrm>
          <a:prstGeom prst="roundRect">
            <a:avLst>
              <a:gd name="adj" fmla="val 6000"/>
            </a:avLst>
          </a:prstGeom>
          <a:solidFill>
            <a:srgbClr val="00B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Arial"/>
              </a:rPr>
              <a:t>Predicted
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10881360" cy="6068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 dirty="0">
                <a:solidFill>
                  <a:srgbClr val="262626"/>
                </a:solidFill>
                <a:latin typeface="Arial"/>
              </a:rPr>
              <a:t>Each stage is produced by a deterministic engine or a grounded AI agent — never a free-form language-model guess — so every number an executive sees traces back to a verifiable source system.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39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17220" y="4137659"/>
            <a:ext cx="502920" cy="50292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 dirty="0">
                <a:solidFill>
                  <a:srgbClr val="7400C0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79"/>
            <a:ext cx="224028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20639"/>
            <a:ext cx="2240280" cy="644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A statistically significant KPI deviation is flagged the moment it crosses threshold.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27832" y="3977639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387852" y="4137659"/>
            <a:ext cx="502920" cy="50292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 dirty="0">
                <a:solidFill>
                  <a:srgbClr val="7400C0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0712" y="4754879"/>
            <a:ext cx="224028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Investigate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0712" y="5120639"/>
            <a:ext cx="2240280" cy="644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dirty="0" err="1">
                <a:solidFill>
                  <a:srgbClr val="595959"/>
                </a:solidFill>
                <a:latin typeface="Arial"/>
              </a:rPr>
              <a:t>LangGraph</a:t>
            </a:r>
            <a:r>
              <a:rPr sz="1200" b="0" i="0" dirty="0">
                <a:solidFill>
                  <a:srgbClr val="595959"/>
                </a:solidFill>
                <a:latin typeface="Arial"/>
              </a:rPr>
              <a:t> agents decompose the anomaly into ranked, quantified root-cause drivers.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98464" y="3977639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158484" y="4137659"/>
            <a:ext cx="502920" cy="50292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 dirty="0">
                <a:solidFill>
                  <a:srgbClr val="7400C0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4754879"/>
            <a:ext cx="224028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5120639"/>
            <a:ext cx="2240280" cy="644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Every driver is corroborated against SHA-256-hashed ERP, CRM, and EDI evidence.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69096" y="3977639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929116" y="4137659"/>
            <a:ext cx="502920" cy="50292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 dirty="0">
                <a:solidFill>
                  <a:srgbClr val="7400C0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1976" y="4754879"/>
            <a:ext cx="224028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Recommend &amp; Simulate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51976" y="5120639"/>
            <a:ext cx="2240280" cy="644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Prioritized actions are scored by recovery value, feasibility, and confidence.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04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nodeType="afterEffect">
                            <p:stCondLst>
                              <p:cond delay="117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0" dur="70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nodeType="afterEffect">
                            <p:stCondLst>
                              <p:cond delay="1235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3" dur="700"/>
                                  <p:tgtEl>
                                    <p:spTgt spid="2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nodeType="afterEffect">
                            <p:stCondLst>
                              <p:cond delay="13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6" dur="700"/>
                                  <p:tgtEl>
                                    <p:spTgt spid="2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nodeType="afterEffect">
                            <p:stCondLst>
                              <p:cond delay="1365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9" dur="700"/>
                                  <p:tgtEl>
                                    <p:spTgt spid="2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nodeType="afterEffect">
                            <p:stCondLst>
                              <p:cond delay="143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2" dur="700"/>
                                  <p:tgtEl>
                                    <p:spTgt spid="2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nodeType="afterEffect">
                            <p:stCondLst>
                              <p:cond delay="1495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5" dur="700"/>
                                  <p:tgtEl>
                                    <p:spTgt spid="2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nodeType="afterEffect">
                            <p:stCondLst>
                              <p:cond delay="156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8" dur="700"/>
                                  <p:tgtEl>
                                    <p:spTgt spid="2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nodeType="afterEffect">
                            <p:stCondLst>
                              <p:cond delay="1625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1" dur="700"/>
                                  <p:tgtEl>
                                    <p:spTgt spid="2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2" presetID="10" presetClass="entr" presetSubtype="0" fill="hold" nodeType="afterEffect">
                            <p:stCondLst>
                              <p:cond delay="169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4" dur="700"/>
                                  <p:tgtEl>
                                    <p:spTgt spid="2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nodeType="afterEffect">
                            <p:stCondLst>
                              <p:cond delay="1755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7" dur="700"/>
                                  <p:tgtEl>
                                    <p:spTgt spid="2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nodeType="afterEffect">
                            <p:stCondLst>
                              <p:cond delay="182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0" dur="700"/>
                                  <p:tgtEl>
                                    <p:spTgt spid="3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nodeType="afterEffect">
                            <p:stCondLst>
                              <p:cond delay="1885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3" dur="700"/>
                                  <p:tgtEl>
                                    <p:spTgt spid="3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4" presetID="10" presetClass="entr" presetSubtype="0" fill="hold" nodeType="afterEffect">
                            <p:stCondLst>
                              <p:cond delay="19500"/>
                            </p:stCondLst>
                            <p:childTnLst>
                              <p:set>
                                <p:cBhvr>
                                  <p:cTn id="9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6" dur="700"/>
                                  <p:tgtEl>
                                    <p:spTgt spid="3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Technology &amp;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1458" y="1042197"/>
            <a:ext cx="10881360" cy="6585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b="0" i="1" dirty="0">
                <a:solidFill>
                  <a:srgbClr val="7400C0"/>
                </a:solidFill>
                <a:latin typeface="Arial"/>
              </a:rPr>
              <a:t>Core principle: deterministic systems own quantitative truth. </a:t>
            </a:r>
            <a:r>
              <a:rPr b="0" i="1" dirty="0" err="1">
                <a:solidFill>
                  <a:srgbClr val="7400C0"/>
                </a:solidFill>
                <a:latin typeface="Arial"/>
              </a:rPr>
              <a:t>LangGraph</a:t>
            </a:r>
            <a:r>
              <a:rPr b="0" i="1" dirty="0">
                <a:solidFill>
                  <a:srgbClr val="7400C0"/>
                </a:solidFill>
                <a:latin typeface="Arial"/>
              </a:rPr>
              <a:t> orchestrates investigation. </a:t>
            </a:r>
            <a:endParaRPr lang="en-IN" b="0" i="1" dirty="0">
              <a:solidFill>
                <a:srgbClr val="7400C0"/>
              </a:solidFill>
              <a:latin typeface="Arial"/>
            </a:endParaRPr>
          </a:p>
          <a:p>
            <a:pPr algn="l">
              <a:lnSpc>
                <a:spcPct val="125000"/>
              </a:lnSpc>
            </a:pPr>
            <a:r>
              <a:rPr b="0" i="1" dirty="0">
                <a:solidFill>
                  <a:srgbClr val="7400C0"/>
                </a:solidFill>
                <a:latin typeface="Arial"/>
              </a:rPr>
              <a:t>AI explains grounded facts — it is never allowed to calculate metrics or invent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170688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2057400"/>
            <a:ext cx="1597152" cy="21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Data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816352"/>
            <a:ext cx="1597152" cy="3905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 dirty="0">
                <a:solidFill>
                  <a:srgbClr val="7400C0"/>
                </a:solidFill>
                <a:latin typeface="Arial"/>
              </a:rPr>
              <a:t>ERP · CRM · EDI · POS</a:t>
            </a:r>
          </a:p>
        </p:txBody>
      </p:sp>
      <p:sp>
        <p:nvSpPr>
          <p:cNvPr id="7" name="Chevron 6"/>
          <p:cNvSpPr/>
          <p:nvPr/>
        </p:nvSpPr>
        <p:spPr>
          <a:xfrm>
            <a:off x="2150364" y="2583180"/>
            <a:ext cx="201168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292096" y="1965960"/>
            <a:ext cx="170688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46960" y="2057400"/>
            <a:ext cx="1597152" cy="4367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Investigation
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6960" y="2816352"/>
            <a:ext cx="1597152" cy="3905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 dirty="0" err="1">
                <a:solidFill>
                  <a:srgbClr val="7400C0"/>
                </a:solidFill>
                <a:latin typeface="Arial"/>
              </a:rPr>
              <a:t>LangGraph</a:t>
            </a:r>
            <a:r>
              <a:rPr sz="1200" b="0" i="0" dirty="0">
                <a:solidFill>
                  <a:srgbClr val="7400C0"/>
                </a:solidFill>
                <a:latin typeface="Arial"/>
              </a:rPr>
              <a:t> 11-Node
</a:t>
            </a:r>
            <a:r>
              <a:rPr sz="1200" b="0" i="0" dirty="0" err="1">
                <a:solidFill>
                  <a:srgbClr val="7400C0"/>
                </a:solidFill>
                <a:latin typeface="Arial"/>
              </a:rPr>
              <a:t>StateGraph</a:t>
            </a:r>
            <a:endParaRPr sz="1200" b="0" i="0" dirty="0">
              <a:solidFill>
                <a:srgbClr val="7400C0"/>
              </a:solidFill>
              <a:latin typeface="Arial"/>
            </a:endParaRPr>
          </a:p>
        </p:txBody>
      </p:sp>
      <p:sp>
        <p:nvSpPr>
          <p:cNvPr id="11" name="Chevron 10"/>
          <p:cNvSpPr/>
          <p:nvPr/>
        </p:nvSpPr>
        <p:spPr>
          <a:xfrm>
            <a:off x="3985260" y="2583180"/>
            <a:ext cx="201168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126992" y="1965960"/>
            <a:ext cx="170688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81856" y="2057400"/>
            <a:ext cx="1597152" cy="4367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Orchestration
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1856" y="2816352"/>
            <a:ext cx="1597152" cy="3905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 dirty="0" err="1">
                <a:solidFill>
                  <a:srgbClr val="7400C0"/>
                </a:solidFill>
                <a:latin typeface="Arial"/>
              </a:rPr>
              <a:t>Groq</a:t>
            </a:r>
            <a:r>
              <a:rPr sz="1200" b="0" i="0" dirty="0">
                <a:solidFill>
                  <a:srgbClr val="7400C0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7400C0"/>
                </a:solidFill>
                <a:latin typeface="Arial"/>
              </a:rPr>
              <a:t>LLaMA</a:t>
            </a:r>
            <a:r>
              <a:rPr sz="1200" b="0" i="0" dirty="0">
                <a:solidFill>
                  <a:srgbClr val="7400C0"/>
                </a:solidFill>
                <a:latin typeface="Arial"/>
              </a:rPr>
              <a:t> 3.3 70B +
Gemini 2.5 routing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5820156" y="2583180"/>
            <a:ext cx="201168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961888" y="1965960"/>
            <a:ext cx="1706880" cy="1417320"/>
          </a:xfrm>
          <a:prstGeom prst="roundRect">
            <a:avLst>
              <a:gd name="adj" fmla="val 6000"/>
            </a:avLst>
          </a:prstGeom>
          <a:solidFill>
            <a:srgbClr val="E6DC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16752" y="2057400"/>
            <a:ext cx="1597152" cy="4367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Evidence
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6752" y="2816352"/>
            <a:ext cx="1597152" cy="3905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 dirty="0">
                <a:solidFill>
                  <a:srgbClr val="7400C0"/>
                </a:solidFill>
                <a:latin typeface="Arial"/>
              </a:rPr>
              <a:t>SHA-256
Cryptographic Lineage</a:t>
            </a:r>
          </a:p>
        </p:txBody>
      </p:sp>
      <p:sp>
        <p:nvSpPr>
          <p:cNvPr id="19" name="Chevron 18"/>
          <p:cNvSpPr/>
          <p:nvPr/>
        </p:nvSpPr>
        <p:spPr>
          <a:xfrm>
            <a:off x="7655052" y="2583180"/>
            <a:ext cx="201168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796784" y="1965960"/>
            <a:ext cx="170688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51648" y="2057400"/>
            <a:ext cx="1597152" cy="662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Decision &amp;
Recommendation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1648" y="2816352"/>
            <a:ext cx="1597152" cy="3905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 dirty="0">
                <a:solidFill>
                  <a:srgbClr val="7400C0"/>
                </a:solidFill>
                <a:latin typeface="Arial"/>
              </a:rPr>
              <a:t>Deterministic Python
Core Analytics</a:t>
            </a:r>
          </a:p>
        </p:txBody>
      </p:sp>
      <p:sp>
        <p:nvSpPr>
          <p:cNvPr id="23" name="Chevron 22"/>
          <p:cNvSpPr/>
          <p:nvPr/>
        </p:nvSpPr>
        <p:spPr>
          <a:xfrm>
            <a:off x="9489948" y="2583180"/>
            <a:ext cx="201168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631680" y="1965960"/>
            <a:ext cx="170688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86544" y="2057400"/>
            <a:ext cx="1597152" cy="4367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 dirty="0">
                <a:solidFill>
                  <a:srgbClr val="262626"/>
                </a:solidFill>
                <a:latin typeface="Arial"/>
              </a:rPr>
              <a:t>Executive
Briefing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6544" y="2816352"/>
            <a:ext cx="1597152" cy="3905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 dirty="0">
                <a:solidFill>
                  <a:srgbClr val="7400C0"/>
                </a:solidFill>
                <a:latin typeface="Arial"/>
              </a:rPr>
              <a:t>Role-Tailored
Boardroom Synthesis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" y="3575304"/>
            <a:ext cx="5675376" cy="2587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nvestigation_trac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3611880"/>
            <a:ext cx="5638800" cy="2514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57200" y="6217920"/>
            <a:ext cx="5838669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 dirty="0">
                <a:solidFill>
                  <a:srgbClr val="595959"/>
                </a:solidFill>
                <a:latin typeface="Arial"/>
              </a:rPr>
              <a:t>Product interface — AI Investigation Trace (</a:t>
            </a:r>
            <a:r>
              <a:rPr sz="1200" b="0" i="1" dirty="0" err="1">
                <a:solidFill>
                  <a:srgbClr val="595959"/>
                </a:solidFill>
                <a:latin typeface="Arial"/>
              </a:rPr>
              <a:t>LangGraph</a:t>
            </a:r>
            <a:r>
              <a:rPr sz="1200" b="0" i="1" dirty="0">
                <a:solidFill>
                  <a:srgbClr val="595959"/>
                </a:solidFill>
                <a:latin typeface="Arial"/>
              </a:rPr>
              <a:t> node-by-node execution log)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49640" y="3582949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77656" y="3705509"/>
            <a:ext cx="2532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A100FF"/>
                </a:solidFill>
                <a:latin typeface="Arial"/>
              </a:rPr>
              <a:t>11 Nodes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09930" y="4071413"/>
            <a:ext cx="253288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 err="1">
                <a:solidFill>
                  <a:srgbClr val="595959"/>
                </a:solidFill>
                <a:latin typeface="Arial"/>
              </a:rPr>
              <a:t>LangGraph</a:t>
            </a:r>
            <a:r>
              <a:rPr sz="1200" b="0" i="0" dirty="0">
                <a:solidFill>
                  <a:srgbClr val="595959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Arial"/>
              </a:rPr>
              <a:t>StateGraph</a:t>
            </a:r>
            <a:r>
              <a:rPr sz="1200" b="0" i="0" dirty="0">
                <a:solidFill>
                  <a:srgbClr val="595959"/>
                </a:solidFill>
                <a:latin typeface="Arial"/>
              </a:rPr>
              <a:t> Orchestration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9640" y="4628974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50224" y="4686022"/>
            <a:ext cx="2532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A100FF"/>
                </a:solidFill>
                <a:latin typeface="Arial"/>
              </a:rPr>
              <a:t>2 Engines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4" y="5110020"/>
            <a:ext cx="2532888" cy="180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 err="1">
                <a:solidFill>
                  <a:srgbClr val="595959"/>
                </a:solidFill>
                <a:latin typeface="Arial"/>
              </a:rPr>
              <a:t>Groq</a:t>
            </a:r>
            <a:r>
              <a:rPr sz="1200" b="0" i="0" dirty="0">
                <a:solidFill>
                  <a:srgbClr val="595959"/>
                </a:solidFill>
                <a:latin typeface="Arial"/>
              </a:rPr>
              <a:t> + Gemini Multi-Model Pool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9640" y="5663343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50224" y="5794968"/>
            <a:ext cx="2532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A100FF"/>
                </a:solidFill>
                <a:latin typeface="Arial"/>
              </a:rPr>
              <a:t>SHA-256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0224" y="6212241"/>
            <a:ext cx="2532888" cy="180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Cryptographic Evidence Lineage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" y="665876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 dirty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05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nodeType="afterEffect">
                            <p:stCondLst>
                              <p:cond delay="117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0" dur="70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nodeType="afterEffect">
                            <p:stCondLst>
                              <p:cond delay="1235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3" dur="700"/>
                                  <p:tgtEl>
                                    <p:spTgt spid="2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nodeType="afterEffect">
                            <p:stCondLst>
                              <p:cond delay="13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6" dur="700"/>
                                  <p:tgtEl>
                                    <p:spTgt spid="2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nodeType="afterEffect">
                            <p:stCondLst>
                              <p:cond delay="1365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9" dur="700"/>
                                  <p:tgtEl>
                                    <p:spTgt spid="2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nodeType="afterEffect">
                            <p:stCondLst>
                              <p:cond delay="143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2" dur="700"/>
                                  <p:tgtEl>
                                    <p:spTgt spid="2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nodeType="afterEffect">
                            <p:stCondLst>
                              <p:cond delay="1495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5" dur="700"/>
                                  <p:tgtEl>
                                    <p:spTgt spid="2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nodeType="afterEffect">
                            <p:stCondLst>
                              <p:cond delay="156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8" dur="700"/>
                                  <p:tgtEl>
                                    <p:spTgt spid="2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nodeType="afterEffect">
                            <p:stCondLst>
                              <p:cond delay="1625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1" dur="700"/>
                                  <p:tgtEl>
                                    <p:spTgt spid="2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2" presetID="10" presetClass="entr" presetSubtype="0" fill="hold" nodeType="afterEffect">
                            <p:stCondLst>
                              <p:cond delay="169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4" dur="700"/>
                                  <p:tgtEl>
                                    <p:spTgt spid="2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nodeType="afterEffect">
                            <p:stCondLst>
                              <p:cond delay="1755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7" dur="700"/>
                                  <p:tgtEl>
                                    <p:spTgt spid="2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nodeType="afterEffect">
                            <p:stCondLst>
                              <p:cond delay="182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0" dur="700"/>
                                  <p:tgtEl>
                                    <p:spTgt spid="3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nodeType="afterEffect">
                            <p:stCondLst>
                              <p:cond delay="1885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3" dur="700"/>
                                  <p:tgtEl>
                                    <p:spTgt spid="3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4" presetID="10" presetClass="entr" presetSubtype="0" fill="hold" nodeType="afterEffect">
                            <p:stCondLst>
                              <p:cond delay="19500"/>
                            </p:stCondLst>
                            <p:childTnLst>
                              <p:set>
                                <p:cBhvr>
                                  <p:cTn id="9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6" dur="700"/>
                                  <p:tgtEl>
                                    <p:spTgt spid="3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nodeType="afterEffect">
                            <p:stCondLst>
                              <p:cond delay="2015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9" dur="700"/>
                                  <p:tgtEl>
                                    <p:spTgt spid="3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0" presetID="10" presetClass="entr" presetSubtype="0" fill="hold" nodeType="afterEffect">
                            <p:stCondLst>
                              <p:cond delay="2080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02" dur="700"/>
                                  <p:tgtEl>
                                    <p:spTgt spid="3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3" presetID="10" presetClass="entr" presetSubtype="0" fill="hold" nodeType="afterEffect">
                            <p:stCondLst>
                              <p:cond delay="21450"/>
                            </p:stCondLst>
                            <p:childTnLst>
                              <p:set>
                                <p:cBhvr>
                                  <p:cTn id="10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05" dur="700"/>
                                  <p:tgtEl>
                                    <p:spTgt spid="3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6" presetID="10" presetClass="entr" presetSubtype="0" fill="hold" nodeType="afterEffect">
                            <p:stCondLst>
                              <p:cond delay="22100"/>
                            </p:stCondLst>
                            <p:childTnLst>
                              <p:set>
                                <p:cBhvr>
                                  <p:cTn id="10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08" dur="700"/>
                                  <p:tgtEl>
                                    <p:spTgt spid="3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nodeType="afterEffect">
                            <p:stCondLst>
                              <p:cond delay="2275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11" dur="700"/>
                                  <p:tgtEl>
                                    <p:spTgt spid="3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2" presetID="10" presetClass="entr" presetSubtype="0" fill="hold" nodeType="afterEffect">
                            <p:stCondLst>
                              <p:cond delay="23400"/>
                            </p:stCondLst>
                            <p:childTnLst>
                              <p:set>
                                <p:cBhvr>
                                  <p:cTn id="1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14" dur="700"/>
                                  <p:tgtEl>
                                    <p:spTgt spid="3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5" presetID="10" presetClass="entr" presetSubtype="0" fill="hold" nodeType="afterEffect">
                            <p:stCondLst>
                              <p:cond delay="2405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17" dur="700"/>
                                  <p:tgtEl>
                                    <p:spTgt spid="3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8" presetID="10" presetClass="entr" presetSubtype="0" fill="hold" nodeType="afterEffect">
                            <p:stCondLst>
                              <p:cond delay="24700"/>
                            </p:stCondLst>
                            <p:childTnLst>
                              <p:set>
                                <p:cBhvr>
                                  <p:cTn id="1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0" dur="700"/>
                                  <p:tgtEl>
                                    <p:spTgt spid="4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Working Prototype — Executive Command Center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1104" y="1426464"/>
            <a:ext cx="7022592" cy="39780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ommand_cente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63040"/>
            <a:ext cx="6949440" cy="3904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7680" y="5441115"/>
            <a:ext cx="694944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 dirty="0">
                <a:solidFill>
                  <a:srgbClr val="595959"/>
                </a:solidFill>
                <a:latin typeface="Arial"/>
              </a:rPr>
              <a:t>Live product interface — </a:t>
            </a:r>
            <a:r>
              <a:rPr sz="1200" b="0" i="1" dirty="0" err="1">
                <a:solidFill>
                  <a:srgbClr val="595959"/>
                </a:solidFill>
                <a:latin typeface="Arial"/>
              </a:rPr>
              <a:t>InsightPilot</a:t>
            </a:r>
            <a:r>
              <a:rPr sz="1200" b="0" i="1" dirty="0">
                <a:solidFill>
                  <a:srgbClr val="595959"/>
                </a:solidFill>
                <a:latin typeface="Arial"/>
              </a:rPr>
              <a:t> AI Executive Command Center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09728" cy="109728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329184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Real-Time KPI 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33375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Revenue, gross margin, units sold, availability, and orders synced live across every connected enterprise system.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79192"/>
            <a:ext cx="109728" cy="109728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633472"/>
            <a:ext cx="329184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Grounded AI Executive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53512"/>
            <a:ext cx="33375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A plain-English narrative of what changed, generated only from grounded, verified data — never invented.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49624"/>
            <a:ext cx="109728" cy="109728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03904"/>
            <a:ext cx="329184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One-Click Drill-Down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23944"/>
            <a:ext cx="33375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Any priority alert opens directly into the Decision Graph, tracing the anomaly straight to its root cause.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974336"/>
            <a:ext cx="3611880" cy="9601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6" y="5065776"/>
            <a:ext cx="3355848" cy="48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A100FF"/>
                </a:solidFill>
                <a:latin typeface="Arial"/>
              </a:rPr>
              <a:t>8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5550408"/>
            <a:ext cx="3355848" cy="180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Enterprise Data Systems Synchronized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06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Root Cause Investigation &amp; Attribution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48690"/>
            <a:ext cx="10881360" cy="610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0" i="0" dirty="0">
                <a:solidFill>
                  <a:srgbClr val="262626"/>
                </a:solidFill>
                <a:latin typeface="Arial"/>
              </a:rPr>
              <a:t>Atlanta DC stockout explains 43.2% of the revenue miss — exhaustively decomposing 100% of the net financial variance.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27632"/>
            <a:ext cx="603504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Atlanta DC Inventory Stockout   </a:t>
            </a:r>
            <a:r>
              <a:rPr sz="1400" b="0" i="0" dirty="0">
                <a:solidFill>
                  <a:srgbClr val="595959"/>
                </a:solidFill>
                <a:latin typeface="Arial"/>
              </a:rPr>
              <a:t>Impact -$550K  ·  Confidence 94%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706"/>
            <a:ext cx="6035040" cy="384048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560970" y="1959037"/>
            <a:ext cx="73152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dirty="0">
                <a:solidFill>
                  <a:srgbClr val="262626"/>
                </a:solidFill>
                <a:latin typeface="Arial"/>
              </a:rPr>
              <a:t>43.2%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829" y="2382175"/>
            <a:ext cx="6592061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SKU-8821 Sales Velocity Contraction   </a:t>
            </a:r>
            <a:r>
              <a:rPr sz="1400" b="0" i="0" dirty="0">
                <a:solidFill>
                  <a:srgbClr val="595959"/>
                </a:solidFill>
                <a:latin typeface="Arial"/>
              </a:rPr>
              <a:t>Impact -$340K  ·  Confidence 88.5%</a:t>
            </a:r>
          </a:p>
        </p:txBody>
      </p:sp>
      <p:sp>
        <p:nvSpPr>
          <p:cNvPr id="8" name="Rectangle 7"/>
          <p:cNvSpPr/>
          <p:nvPr/>
        </p:nvSpPr>
        <p:spPr>
          <a:xfrm>
            <a:off x="421386" y="2673498"/>
            <a:ext cx="3729989" cy="384048"/>
          </a:xfrm>
          <a:prstGeom prst="rect">
            <a:avLst/>
          </a:prstGeom>
          <a:solidFill>
            <a:srgbClr val="C1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73169" y="2759121"/>
            <a:ext cx="73152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dirty="0">
                <a:solidFill>
                  <a:srgbClr val="262626"/>
                </a:solidFill>
                <a:latin typeface="Arial"/>
              </a:rPr>
              <a:t>26.7%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737" y="3153208"/>
            <a:ext cx="6556248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Distributor Purchase Order Deferrals   </a:t>
            </a:r>
            <a:r>
              <a:rPr sz="1400" b="0" i="0" dirty="0">
                <a:solidFill>
                  <a:srgbClr val="595959"/>
                </a:solidFill>
                <a:latin typeface="Arial"/>
              </a:rPr>
              <a:t>Impact -$240K  ·  Confidence 89%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737" y="3460977"/>
            <a:ext cx="2626360" cy="384048"/>
          </a:xfrm>
          <a:prstGeom prst="rect">
            <a:avLst/>
          </a:prstGeom>
          <a:solidFill>
            <a:srgbClr val="C1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3200400" y="3516117"/>
            <a:ext cx="73152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dirty="0">
                <a:solidFill>
                  <a:srgbClr val="262626"/>
                </a:solidFill>
                <a:latin typeface="Arial"/>
              </a:rPr>
              <a:t>18.8%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37" y="3907100"/>
            <a:ext cx="6556247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Competitor Horizon Price Cut (-15%)   </a:t>
            </a:r>
            <a:r>
              <a:rPr sz="1400" b="0" i="0" dirty="0">
                <a:solidFill>
                  <a:srgbClr val="595959"/>
                </a:solidFill>
                <a:latin typeface="Arial"/>
              </a:rPr>
              <a:t>Impact -$144K  ·  Confidence 86%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76993"/>
            <a:ext cx="1578610" cy="384048"/>
          </a:xfrm>
          <a:prstGeom prst="rect">
            <a:avLst/>
          </a:prstGeom>
          <a:solidFill>
            <a:srgbClr val="C1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2227834" y="4267921"/>
            <a:ext cx="73152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dirty="0">
                <a:solidFill>
                  <a:srgbClr val="262626"/>
                </a:solidFill>
                <a:latin typeface="Arial"/>
              </a:rPr>
              <a:t>11.3%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0024" y="1577341"/>
            <a:ext cx="4594230" cy="275926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oot_caus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09022"/>
            <a:ext cx="4557654" cy="27275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92490" y="4382259"/>
            <a:ext cx="420624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 dirty="0">
                <a:solidFill>
                  <a:srgbClr val="595959"/>
                </a:solidFill>
                <a:latin typeface="Arial"/>
              </a:rPr>
              <a:t>Live product interface — Root Cause Attribution Ranking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01989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3809" y="5330951"/>
            <a:ext cx="2350008" cy="52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A100FF"/>
                </a:solidFill>
                <a:latin typeface="Arial"/>
              </a:rPr>
              <a:t>92.4%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809" y="5727769"/>
            <a:ext cx="23500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Average Confidence Across All Drivers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41929" y="5222878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82312" y="5374246"/>
            <a:ext cx="2350008" cy="52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A100FF"/>
                </a:solidFill>
                <a:latin typeface="Arial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5812285"/>
            <a:ext cx="2350008" cy="180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Net Financial Variance Explained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5240702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8860536" y="5383530"/>
            <a:ext cx="2350008" cy="52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FF50A0"/>
                </a:solidFill>
                <a:latin typeface="Arial"/>
              </a:rPr>
              <a:t>-$1.23M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5856731"/>
            <a:ext cx="2350008" cy="180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Total Attributed Financial 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07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nodeType="afterEffect">
                            <p:stCondLst>
                              <p:cond delay="117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0" dur="70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nodeType="afterEffect">
                            <p:stCondLst>
                              <p:cond delay="1235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3" dur="700"/>
                                  <p:tgtEl>
                                    <p:spTgt spid="2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nodeType="afterEffect">
                            <p:stCondLst>
                              <p:cond delay="13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6" dur="700"/>
                                  <p:tgtEl>
                                    <p:spTgt spid="2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nodeType="afterEffect">
                            <p:stCondLst>
                              <p:cond delay="1365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9" dur="700"/>
                                  <p:tgtEl>
                                    <p:spTgt spid="2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nodeType="afterEffect">
                            <p:stCondLst>
                              <p:cond delay="143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2" dur="700"/>
                                  <p:tgtEl>
                                    <p:spTgt spid="2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nodeType="afterEffect">
                            <p:stCondLst>
                              <p:cond delay="1495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5" dur="700"/>
                                  <p:tgtEl>
                                    <p:spTgt spid="2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nodeType="afterEffect">
                            <p:stCondLst>
                              <p:cond delay="156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8" dur="700"/>
                                  <p:tgtEl>
                                    <p:spTgt spid="2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nodeType="afterEffect">
                            <p:stCondLst>
                              <p:cond delay="1625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1" dur="700"/>
                                  <p:tgtEl>
                                    <p:spTgt spid="2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2" presetID="10" presetClass="entr" presetSubtype="0" fill="hold" nodeType="afterEffect">
                            <p:stCondLst>
                              <p:cond delay="169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4" dur="700"/>
                                  <p:tgtEl>
                                    <p:spTgt spid="2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nodeType="afterEffect">
                            <p:stCondLst>
                              <p:cond delay="1755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87" dur="700"/>
                                  <p:tgtEl>
                                    <p:spTgt spid="2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Decision Graph — Anomaly to 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86784" y="1472184"/>
            <a:ext cx="7296912" cy="413221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ecision_grap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08760"/>
            <a:ext cx="7223760" cy="4059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5640977"/>
            <a:ext cx="722376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 dirty="0">
                <a:solidFill>
                  <a:srgbClr val="595959"/>
                </a:solidFill>
                <a:latin typeface="Arial"/>
              </a:rPr>
              <a:t>Live product interface — Decision Graph Canvas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581912"/>
            <a:ext cx="457200" cy="45720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i="0" dirty="0">
                <a:solidFill>
                  <a:srgbClr val="7400C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554480"/>
            <a:ext cx="26517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KPI Anomaly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883664"/>
            <a:ext cx="2697480" cy="7518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A revenue anomaly is detected and flagged as critical the moment it crosses threshold.</a:t>
            </a:r>
          </a:p>
        </p:txBody>
      </p:sp>
      <p:sp>
        <p:nvSpPr>
          <p:cNvPr id="9" name="Oval 8"/>
          <p:cNvSpPr/>
          <p:nvPr/>
        </p:nvSpPr>
        <p:spPr>
          <a:xfrm>
            <a:off x="530352" y="2865066"/>
            <a:ext cx="457200" cy="45720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i="0" dirty="0">
                <a:solidFill>
                  <a:srgbClr val="7400C0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907475"/>
            <a:ext cx="26517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Causal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36659"/>
            <a:ext cx="2697480" cy="1010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AI agents trace the operational drivers behind the anomaly through a validated, evidence-linked causal chain.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i="0" dirty="0">
                <a:solidFill>
                  <a:srgbClr val="7400C0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17136"/>
            <a:ext cx="26517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Decision 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846320"/>
            <a:ext cx="2697480" cy="7518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Evidence and causal relationships connect directly to a prioritized, ROI-scored recommended action.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08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Evidence &amp; Trust — Cryptographically Verified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0624" y="1472184"/>
            <a:ext cx="7114032" cy="40294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vidence_explore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7040880" cy="3956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538216"/>
            <a:ext cx="704088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 dirty="0">
                <a:solidFill>
                  <a:srgbClr val="595959"/>
                </a:solidFill>
                <a:latin typeface="Arial"/>
              </a:rPr>
              <a:t>Live product interface — Evidence Explorer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1508760"/>
            <a:ext cx="3520440" cy="9601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46136" y="1600200"/>
            <a:ext cx="3264408" cy="48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A100FF"/>
                </a:solidFill>
                <a:latin typeface="Arial"/>
              </a:rPr>
              <a:t>12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46136" y="2084832"/>
            <a:ext cx="32644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Multi-Modal Evidence — Structured + Unstructured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606040"/>
            <a:ext cx="3520440" cy="9601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46136" y="2697480"/>
            <a:ext cx="3264408" cy="48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100FF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6136" y="3182112"/>
            <a:ext cx="3264408" cy="180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SHA-256 Cryptographic Digest 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3703320"/>
            <a:ext cx="3520440" cy="9601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46136" y="3794760"/>
            <a:ext cx="3264408" cy="48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100FF"/>
                </a:solidFill>
                <a:latin typeface="Arial"/>
              </a:rPr>
              <a:t>SOX-Ready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46136" y="4279392"/>
            <a:ext cx="3264408" cy="180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Governance Proof for Enterprise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4846320"/>
            <a:ext cx="3520440" cy="15893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25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Structured feeds from SAP S/4HANA, NetSuite EDI, Salesforce CRM, and retail POS are cross-verified against unstructured distributor and support communications, giving every conclusion a fully traceable evidence chain.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09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Recommendations &amp; What-If Simulation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89904" y="1472184"/>
            <a:ext cx="5650992" cy="35021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commendation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08760"/>
            <a:ext cx="5577840" cy="34655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56960" y="5050081"/>
            <a:ext cx="557784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 dirty="0">
                <a:solidFill>
                  <a:srgbClr val="595959"/>
                </a:solidFill>
                <a:latin typeface="Arial"/>
              </a:rPr>
              <a:t>Live product interface — Recommendations &amp; What-If Simulator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600200"/>
            <a:ext cx="146304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PRIORITY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600200"/>
            <a:ext cx="17373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 dirty="0">
                <a:solidFill>
                  <a:srgbClr val="7400C0"/>
                </a:solidFill>
                <a:latin typeface="Arial"/>
              </a:rPr>
              <a:t>+$484,000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856232"/>
            <a:ext cx="502920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Emergency Stock Transfer (Chicago → Atlanta)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185416"/>
            <a:ext cx="502920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SLA: 14 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15768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807208"/>
            <a:ext cx="146304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PRIORITY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807208"/>
            <a:ext cx="17373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 dirty="0">
                <a:solidFill>
                  <a:srgbClr val="7400C0"/>
                </a:solidFill>
                <a:latin typeface="Arial"/>
              </a:rPr>
              <a:t>+$180,000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63240"/>
            <a:ext cx="502920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Distributor PO Discount Incentive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392424"/>
            <a:ext cx="502920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SLA: 7 Days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22776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4014216"/>
            <a:ext cx="146304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PRIORITY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014216"/>
            <a:ext cx="17373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 dirty="0">
                <a:solidFill>
                  <a:srgbClr val="7400C0"/>
                </a:solidFill>
                <a:latin typeface="Arial"/>
              </a:rPr>
              <a:t>+$93,600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270248"/>
            <a:ext cx="502920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East Retail Co-Op Counter-Promotion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99432"/>
            <a:ext cx="502920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SLA: 30 Days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175504"/>
            <a:ext cx="5394960" cy="594360"/>
          </a:xfrm>
          <a:prstGeom prst="roundRect">
            <a:avLst>
              <a:gd name="adj" fmla="val 6000"/>
            </a:avLst>
          </a:prstGeom>
          <a:solidFill>
            <a:srgbClr val="E6DC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" y="5343161"/>
            <a:ext cx="512064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>
                <a:solidFill>
                  <a:srgbClr val="262626"/>
                </a:solidFill>
                <a:latin typeface="Arial"/>
              </a:rPr>
              <a:t>Total Modeled Recovery Pool:  </a:t>
            </a:r>
            <a:r>
              <a:rPr sz="1600" b="1" i="0" dirty="0">
                <a:solidFill>
                  <a:srgbClr val="7400C0"/>
                </a:solidFill>
                <a:latin typeface="Arial"/>
              </a:rPr>
              <a:t>+$757,600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10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nodeType="afterEffect">
                            <p:stCondLst>
                              <p:cond delay="117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0" dur="70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nodeType="afterEffect">
                            <p:stCondLst>
                              <p:cond delay="1235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3" dur="700"/>
                                  <p:tgtEl>
                                    <p:spTgt spid="2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nodeType="afterEffect">
                            <p:stCondLst>
                              <p:cond delay="13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6" dur="700"/>
                                  <p:tgtEl>
                                    <p:spTgt spid="2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nodeType="afterEffect">
                            <p:stCondLst>
                              <p:cond delay="1365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9" dur="700"/>
                                  <p:tgtEl>
                                    <p:spTgt spid="2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nodeType="afterEffect">
                            <p:stCondLst>
                              <p:cond delay="143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2" dur="700"/>
                                  <p:tgtEl>
                                    <p:spTgt spid="2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Executive Briefing &amp; Governance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29524" y="1238094"/>
            <a:ext cx="6932951" cy="3977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riefin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9524" y="1238094"/>
            <a:ext cx="6932951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29524" y="5288886"/>
            <a:ext cx="7078849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 dirty="0">
                <a:solidFill>
                  <a:srgbClr val="595959"/>
                </a:solidFill>
                <a:latin typeface="Arial"/>
              </a:rPr>
              <a:t>Live product interface — Executive Intelligence Briefing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806439"/>
            <a:ext cx="2606040" cy="685800"/>
          </a:xfrm>
          <a:prstGeom prst="roundRect">
            <a:avLst>
              <a:gd name="adj" fmla="val 6000"/>
            </a:avLst>
          </a:prstGeom>
          <a:solidFill>
            <a:srgbClr val="E6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036006"/>
            <a:ext cx="2606040" cy="226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CFO 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9544" y="5806439"/>
            <a:ext cx="2606040" cy="685800"/>
          </a:xfrm>
          <a:prstGeom prst="roundRect">
            <a:avLst>
              <a:gd name="adj" fmla="val 6000"/>
            </a:avLst>
          </a:prstGeom>
          <a:solidFill>
            <a:srgbClr val="E6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9544" y="6036006"/>
            <a:ext cx="2606040" cy="226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VP Supply Chain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61888" y="5806439"/>
            <a:ext cx="2606040" cy="685800"/>
          </a:xfrm>
          <a:prstGeom prst="roundRect">
            <a:avLst>
              <a:gd name="adj" fmla="val 6000"/>
            </a:avLst>
          </a:prstGeom>
          <a:solidFill>
            <a:srgbClr val="E6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61888" y="6036006"/>
            <a:ext cx="2606040" cy="226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COO 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4232" y="5806439"/>
            <a:ext cx="2606040" cy="685800"/>
          </a:xfrm>
          <a:prstGeom prst="roundRect">
            <a:avLst>
              <a:gd name="adj" fmla="val 6000"/>
            </a:avLst>
          </a:prstGeom>
          <a:solidFill>
            <a:srgbClr val="E6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14232" y="6036006"/>
            <a:ext cx="2606040" cy="226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Sales Director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11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Business Value &amp; ROI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1554480"/>
            <a:ext cx="235000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dirty="0">
                <a:solidFill>
                  <a:srgbClr val="A100FF"/>
                </a:solidFill>
                <a:latin typeface="Arial"/>
              </a:rPr>
              <a:t>$180K/yr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2281681"/>
            <a:ext cx="23500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Enterprise SaaS License per Business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7832" y="146304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55848" y="1554480"/>
            <a:ext cx="235000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100FF"/>
                </a:solidFill>
                <a:latin typeface="Arial"/>
              </a:rPr>
              <a:t>+$484K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2281681"/>
            <a:ext cx="23500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Modeled Recovery — Single Prevented Stockout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98464" y="146304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554480"/>
            <a:ext cx="235000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100FF"/>
                </a:solidFill>
                <a:latin typeface="Arial"/>
              </a:rPr>
              <a:t>2.7x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81681"/>
            <a:ext cx="23500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Modeled First-Year Return on Investment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69096" y="146304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7112" y="1554480"/>
            <a:ext cx="235000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100FF"/>
                </a:solidFill>
                <a:latin typeface="Arial"/>
              </a:rPr>
              <a:t>&lt;90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7112" y="2281681"/>
            <a:ext cx="2350008" cy="374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 dirty="0">
                <a:solidFill>
                  <a:srgbClr val="595959"/>
                </a:solidFill>
                <a:latin typeface="Arial"/>
              </a:rPr>
              <a:t>Modeled Investment Payback Period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6492240" cy="28803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6035040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 i="0" dirty="0">
                <a:solidFill>
                  <a:srgbClr val="262626"/>
                </a:solidFill>
                <a:latin typeface="Arial"/>
              </a:rPr>
              <a:t>Pricing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49039"/>
            <a:ext cx="6035040" cy="1801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•  Annual SaaS License:  </a:t>
            </a:r>
            <a:r>
              <a:rPr sz="1600" b="0" i="0" dirty="0">
                <a:solidFill>
                  <a:srgbClr val="595959"/>
                </a:solidFill>
                <a:latin typeface="Arial"/>
              </a:rPr>
              <a:t>$180,000 / year / business unit</a:t>
            </a:r>
          </a:p>
          <a:p>
            <a:pPr algn="l">
              <a:lnSpc>
                <a:spcPct val="150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•  Enterprise Connector Onboarding:  </a:t>
            </a:r>
            <a:r>
              <a:rPr sz="1600" b="0" i="0" dirty="0">
                <a:solidFill>
                  <a:srgbClr val="595959"/>
                </a:solidFill>
                <a:latin typeface="Arial"/>
              </a:rPr>
              <a:t>$45,000 one-time</a:t>
            </a:r>
          </a:p>
          <a:p>
            <a:pPr algn="l">
              <a:lnSpc>
                <a:spcPct val="150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•  Target Account Scale:  </a:t>
            </a:r>
            <a:r>
              <a:rPr sz="1600" b="0" i="0" dirty="0">
                <a:solidFill>
                  <a:srgbClr val="595959"/>
                </a:solidFill>
                <a:latin typeface="Arial"/>
              </a:rPr>
              <a:t>$250M+ regional revenue enterprises</a:t>
            </a:r>
          </a:p>
          <a:p>
            <a:pPr algn="l">
              <a:lnSpc>
                <a:spcPct val="150000"/>
              </a:lnSpc>
            </a:pPr>
            <a:r>
              <a:rPr sz="1600" b="1" i="0" dirty="0">
                <a:solidFill>
                  <a:srgbClr val="262626"/>
                </a:solidFill>
                <a:latin typeface="Arial"/>
              </a:rPr>
              <a:t>•  Expansion Vectors:  </a:t>
            </a:r>
            <a:r>
              <a:rPr sz="1600" b="0" i="0" dirty="0">
                <a:solidFill>
                  <a:srgbClr val="595959"/>
                </a:solidFill>
                <a:latin typeface="Arial"/>
              </a:rPr>
              <a:t>Supply Chain → Commercial Sales → Finance → Procurement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3063240"/>
            <a:ext cx="4251960" cy="2880360"/>
          </a:xfrm>
          <a:prstGeom prst="roundRect">
            <a:avLst>
              <a:gd name="adj" fmla="val 6000"/>
            </a:avLst>
          </a:prstGeom>
          <a:solidFill>
            <a:srgbClr val="E6DC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60920" y="3291840"/>
            <a:ext cx="3749039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 i="0" dirty="0">
                <a:solidFill>
                  <a:srgbClr val="7400C0"/>
                </a:solidFill>
                <a:latin typeface="Arial"/>
              </a:rPr>
              <a:t>Competitive Moat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749039"/>
            <a:ext cx="3749039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 dirty="0">
                <a:solidFill>
                  <a:srgbClr val="262626"/>
                </a:solidFill>
                <a:latin typeface="Arial"/>
              </a:rPr>
              <a:t>Unlike generic LLM chat wrappers that hallucinate calculations, </a:t>
            </a:r>
            <a:r>
              <a:rPr sz="1400" b="0" i="0" dirty="0" err="1">
                <a:solidFill>
                  <a:srgbClr val="262626"/>
                </a:solidFill>
                <a:latin typeface="Arial"/>
              </a:rPr>
              <a:t>InsightPilot</a:t>
            </a:r>
            <a:r>
              <a:rPr sz="1400" b="0" i="0" dirty="0">
                <a:solidFill>
                  <a:srgbClr val="262626"/>
                </a:solidFill>
                <a:latin typeface="Arial"/>
              </a:rPr>
              <a:t> AI is built on strict mathematical determinism, cryptographic SHA-256 proof, and a calibrated abstention guard — designed to align with Enterprise Audit, SOX, and Corporate Governance standards.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09309"/>
            <a:ext cx="6492240" cy="4067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 dirty="0">
                <a:solidFill>
                  <a:srgbClr val="595959"/>
                </a:solidFill>
                <a:latin typeface="Arial"/>
              </a:rPr>
              <a:t>Figures above are modeled projections from the </a:t>
            </a:r>
            <a:r>
              <a:rPr sz="1200" b="0" i="1" dirty="0" err="1">
                <a:solidFill>
                  <a:srgbClr val="595959"/>
                </a:solidFill>
                <a:latin typeface="Arial"/>
              </a:rPr>
              <a:t>InsightPilot</a:t>
            </a:r>
            <a:r>
              <a:rPr sz="1200" b="0" i="1" dirty="0">
                <a:solidFill>
                  <a:srgbClr val="595959"/>
                </a:solidFill>
                <a:latin typeface="Arial"/>
              </a:rPr>
              <a:t> AI deterministic simulation engine, not audited financial results.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667641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 dirty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12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nodeType="afterEffect">
                            <p:stCondLst>
                              <p:cond delay="117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0" dur="70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nodeType="afterEffect">
                            <p:stCondLst>
                              <p:cond delay="1235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3" dur="700"/>
                                  <p:tgtEl>
                                    <p:spTgt spid="2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nodeType="afterEffect">
                            <p:stCondLst>
                              <p:cond delay="13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6" dur="700"/>
                                  <p:tgtEl>
                                    <p:spTgt spid="2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nodeType="afterEffect">
                            <p:stCondLst>
                              <p:cond delay="1365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9" dur="700"/>
                                  <p:tgtEl>
                                    <p:spTgt spid="2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1458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Scalability &amp; Implementation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3444240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08660" y="1943100"/>
            <a:ext cx="502920" cy="50292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i="0" dirty="0">
                <a:solidFill>
                  <a:srgbClr val="7400C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23469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7400C0"/>
                </a:solidFill>
                <a:latin typeface="Arial"/>
              </a:rP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67128"/>
            <a:ext cx="2346960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 i="0" dirty="0">
                <a:solidFill>
                  <a:srgbClr val="262626"/>
                </a:solidFill>
                <a:latin typeface="Arial"/>
              </a:rPr>
              <a:t>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2895600" cy="12470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 dirty="0">
                <a:solidFill>
                  <a:srgbClr val="595959"/>
                </a:solidFill>
                <a:latin typeface="Arial"/>
              </a:rPr>
              <a:t>Connect a single business unit’s ERP and CRM systems; validate deterministic engines against live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2895600" cy="1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289560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0–3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75760" y="1691640"/>
            <a:ext cx="3444240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427220" y="1943100"/>
            <a:ext cx="502920" cy="50292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i="0" dirty="0">
                <a:solidFill>
                  <a:srgbClr val="7400C0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0160" y="1920240"/>
            <a:ext cx="23469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7400C0"/>
                </a:solidFill>
                <a:latin typeface="Arial"/>
              </a:rP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0160" y="2167128"/>
            <a:ext cx="2346960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 i="0" dirty="0">
                <a:solidFill>
                  <a:srgbClr val="262626"/>
                </a:solidFill>
                <a:latin typeface="Arial"/>
              </a:rPr>
              <a:t>Multi-Unit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880360"/>
            <a:ext cx="2895600" cy="926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 dirty="0">
                <a:solidFill>
                  <a:srgbClr val="595959"/>
                </a:solidFill>
                <a:latin typeface="Arial"/>
              </a:rPr>
              <a:t>Expand across Supply Chain, Commercial Sales, Finance, and Procurement divisions.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0080" y="5303520"/>
            <a:ext cx="2895600" cy="1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50080" y="5394960"/>
            <a:ext cx="289560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3–9 Months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4320" y="1691640"/>
            <a:ext cx="3444240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145780" y="1943100"/>
            <a:ext cx="502920" cy="502920"/>
          </a:xfrm>
          <a:prstGeom prst="ellipse">
            <a:avLst/>
          </a:prstGeom>
          <a:solidFill>
            <a:srgbClr val="E6DCFF"/>
          </a:solidFill>
          <a:ln w="1587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i="0" dirty="0">
                <a:solidFill>
                  <a:srgbClr val="7400C0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8720" y="1920240"/>
            <a:ext cx="2346960" cy="259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dirty="0">
                <a:solidFill>
                  <a:srgbClr val="7400C0"/>
                </a:solidFill>
                <a:latin typeface="Arial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8720" y="2167128"/>
            <a:ext cx="2346960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 i="0" dirty="0">
                <a:solidFill>
                  <a:srgbClr val="262626"/>
                </a:solidFill>
                <a:latin typeface="Arial"/>
              </a:rPr>
              <a:t>Enterprise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8640" y="2880360"/>
            <a:ext cx="2895600" cy="926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 dirty="0">
                <a:solidFill>
                  <a:srgbClr val="595959"/>
                </a:solidFill>
                <a:latin typeface="Arial"/>
              </a:rPr>
              <a:t>Multi-region deployment with full SOX / enterprise-governance audit certification.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8640" y="5303520"/>
            <a:ext cx="2895600" cy="1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1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68640" y="5394960"/>
            <a:ext cx="289560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7400C0"/>
                </a:solidFill>
                <a:latin typeface="Arial"/>
              </a:rPr>
              <a:t>9–18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13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nodeType="afterEffect">
                            <p:stCondLst>
                              <p:cond delay="117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0" dur="70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nodeType="afterEffect">
                            <p:stCondLst>
                              <p:cond delay="1235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3" dur="700"/>
                                  <p:tgtEl>
                                    <p:spTgt spid="2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nodeType="afterEffect">
                            <p:stCondLst>
                              <p:cond delay="13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6" dur="700"/>
                                  <p:tgtEl>
                                    <p:spTgt spid="2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nodeType="afterEffect">
                            <p:stCondLst>
                              <p:cond delay="1365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9" dur="700"/>
                                  <p:tgtEl>
                                    <p:spTgt spid="2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nodeType="afterEffect">
                            <p:stCondLst>
                              <p:cond delay="143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2" dur="700"/>
                                  <p:tgtEl>
                                    <p:spTgt spid="2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nodeType="afterEffect">
                            <p:stCondLst>
                              <p:cond delay="1495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75" dur="700"/>
                                  <p:tgtEl>
                                    <p:spTgt spid="2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7922" y="386331"/>
            <a:ext cx="11282796" cy="47091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Arial"/>
              </a:rPr>
              <a:t>Why </a:t>
            </a:r>
            <a:r>
              <a:rPr sz="2200" b="1" i="0" dirty="0" err="1">
                <a:solidFill>
                  <a:srgbClr val="FFFFFF"/>
                </a:solidFill>
                <a:latin typeface="Arial"/>
              </a:rPr>
              <a:t>InsightPilot</a:t>
            </a:r>
            <a:r>
              <a:rPr sz="2200" b="1" i="0" dirty="0">
                <a:solidFill>
                  <a:srgbClr val="FFFFFF"/>
                </a:solidFill>
                <a:latin typeface="Arial"/>
              </a:rPr>
              <a:t>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82296" cy="137160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892040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 i="0" dirty="0">
                <a:solidFill>
                  <a:srgbClr val="262626"/>
                </a:solidFill>
                <a:latin typeface="Arial"/>
              </a:rPr>
              <a:t>Deterministic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47672"/>
            <a:ext cx="4892040" cy="512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Every KPI, attribution %, and dollar figure is computed by pure Python engines — never guessed by a language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173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89320" y="1417320"/>
            <a:ext cx="82296" cy="137160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63640" y="1554480"/>
            <a:ext cx="4892040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 i="0" dirty="0">
                <a:solidFill>
                  <a:srgbClr val="262626"/>
                </a:solidFill>
                <a:latin typeface="Arial"/>
              </a:rPr>
              <a:t>Cryptographic Evidence Lineage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947672"/>
            <a:ext cx="4892040" cy="512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Every conclusion traces to SHA-256-verified source records across ERP, CRM, EDI, and POS systems.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7180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82296" cy="137160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108960"/>
            <a:ext cx="4892040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 i="0" dirty="0">
                <a:solidFill>
                  <a:srgbClr val="262626"/>
                </a:solidFill>
                <a:latin typeface="Arial"/>
              </a:rPr>
              <a:t>Calibrated Abstention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02152"/>
            <a:ext cx="4892040" cy="512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When evidence confidence falls below threshold, the system abstains instead of generating an unsupported conclusion.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97180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989320" y="2971800"/>
            <a:ext cx="82296" cy="1371600"/>
          </a:xfrm>
          <a:prstGeom prst="rect">
            <a:avLst/>
          </a:prstGeom>
          <a:solidFill>
            <a:srgbClr val="FF5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63640" y="3108960"/>
            <a:ext cx="4892040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 i="0" dirty="0">
                <a:solidFill>
                  <a:srgbClr val="262626"/>
                </a:solidFill>
                <a:latin typeface="Arial"/>
              </a:rPr>
              <a:t>Enterprise Audit &amp; Governance 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502152"/>
            <a:ext cx="4892040" cy="512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dirty="0">
                <a:solidFill>
                  <a:srgbClr val="595959"/>
                </a:solidFill>
                <a:latin typeface="Arial"/>
              </a:rPr>
              <a:t>Designed to align with SOX and corporate-governance requirements for high-stakes financial decisions.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7492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E6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5297283"/>
            <a:ext cx="10332720" cy="6068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1" dirty="0">
                <a:solidFill>
                  <a:srgbClr val="7400C0"/>
                </a:solidFill>
                <a:latin typeface="Arial"/>
              </a:rPr>
              <a:t>“LLMs are strictly forbidden from calculating metrics or inventing evidence — they explain facts the deterministic engine has already proven.”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6539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INSIGHTPILOT AI  ·  ACCENTURE INNOVATION CHALLENGE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3280" y="65653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595959"/>
                </a:solidFill>
                <a:latin typeface="Arial"/>
              </a:rPr>
              <a:t>14 / 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" presetID="10" presetClass="entr" presetSubtype="0" fill="hold" nodeType="afterEffect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2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nodeType="afterEffect">
                            <p:stCondLst>
                              <p:cond delay="195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5" dur="700"/>
                                  <p:tgtEl>
                                    <p:spTgt spid="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nodeType="afterEffect">
                            <p:stCondLst>
                              <p:cond delay="26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18" dur="700"/>
                                  <p:tgtEl>
                                    <p:spTgt spid="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9" presetID="10" presetClass="entr" presetSubtype="0" fill="hold" nodeType="afterEffect">
                            <p:stCondLst>
                              <p:cond delay="325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1" dur="700"/>
                                  <p:tgtEl>
                                    <p:spTgt spid="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nodeType="afterEffect">
                            <p:stCondLst>
                              <p:cond delay="39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4" dur="700"/>
                                  <p:tgtEl>
                                    <p:spTgt spid="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nodeType="afterEffect">
                            <p:stCondLst>
                              <p:cond delay="455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27" dur="700"/>
                                  <p:tgtEl>
                                    <p:spTgt spid="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nodeType="afterEffect">
                            <p:stCondLst>
                              <p:cond delay="52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0" dur="700"/>
                                  <p:tgtEl>
                                    <p:spTgt spid="1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nodeType="afterEffect">
                            <p:stCondLst>
                              <p:cond delay="585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nodeType="afterEffect">
                            <p:stCondLst>
                              <p:cond delay="65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6" dur="700"/>
                                  <p:tgtEl>
                                    <p:spTgt spid="1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nodeType="afterEffect">
                            <p:stCondLst>
                              <p:cond delay="715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39" dur="700"/>
                                  <p:tgtEl>
                                    <p:spTgt spid="13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nodeType="afterEffect">
                            <p:stCondLst>
                              <p:cond delay="780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2" dur="700"/>
                                  <p:tgtEl>
                                    <p:spTgt spid="1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nodeType="afterEffect">
                            <p:stCondLst>
                              <p:cond delay="845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5" dur="700"/>
                                  <p:tgtEl>
                                    <p:spTgt spid="15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nodeType="afterEffect">
                            <p:stCondLst>
                              <p:cond delay="910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48" dur="700"/>
                                  <p:tgtEl>
                                    <p:spTgt spid="16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nodeType="afterEffect">
                            <p:stCondLst>
                              <p:cond delay="975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1" dur="700"/>
                                  <p:tgtEl>
                                    <p:spTgt spid="17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nodeType="afterEffect">
                            <p:stCondLst>
                              <p:cond delay="104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4" dur="700"/>
                                  <p:tgtEl>
                                    <p:spTgt spid="18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nodeType="afterEffect">
                            <p:stCondLst>
                              <p:cond delay="1105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57" dur="700"/>
                                  <p:tgtEl>
                                    <p:spTgt spid="19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nodeType="afterEffect">
                            <p:stCondLst>
                              <p:cond delay="117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0" dur="700"/>
                                  <p:tgtEl>
                                    <p:spTgt spid="20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nodeType="afterEffect">
                            <p:stCondLst>
                              <p:cond delay="1235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3" dur="700"/>
                                  <p:tgtEl>
                                    <p:spTgt spid="21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nodeType="afterEffect">
                            <p:stCondLst>
                              <p:cond delay="13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6" dur="700"/>
                                  <p:tgtEl>
                                    <p:spTgt spid="2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DCA-E252-45B6-8790-F0CA74EA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5190523" cy="984885"/>
          </a:xfrm>
        </p:spPr>
        <p:txBody>
          <a:bodyPr/>
          <a:lstStyle/>
          <a:p>
            <a:r>
              <a:rPr lang="en-US" dirty="0">
                <a:latin typeface="+mj-lt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1348" y="5705010"/>
            <a:ext cx="8000000" cy="926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en-IN" sz="16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600" b="1" i="0" dirty="0">
                <a:solidFill>
                  <a:srgbClr val="FFFFFF"/>
                </a:solidFill>
                <a:latin typeface="Arial"/>
              </a:rPr>
              <a:t>Team </a:t>
            </a:r>
            <a:r>
              <a:rPr sz="1600" b="1" i="0" dirty="0" err="1">
                <a:solidFill>
                  <a:srgbClr val="FFFFFF"/>
                </a:solidFill>
                <a:latin typeface="Arial"/>
              </a:rPr>
              <a:t>SignalCraft</a:t>
            </a:r>
            <a:r>
              <a:rPr sz="16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600" b="0" i="0" dirty="0">
                <a:solidFill>
                  <a:srgbClr val="FFFFFF"/>
                </a:solidFill>
                <a:latin typeface="Arial"/>
              </a:rPr>
              <a:t>· Ayush Nathani, Amrit Sugandh, </a:t>
            </a:r>
            <a:r>
              <a:rPr sz="1600" b="0" i="0" dirty="0" err="1">
                <a:solidFill>
                  <a:srgbClr val="FFFFFF"/>
                </a:solidFill>
                <a:latin typeface="Arial"/>
              </a:rPr>
              <a:t>Rajababu</a:t>
            </a:r>
            <a:r>
              <a:rPr sz="1600" b="0" i="0" dirty="0">
                <a:solidFill>
                  <a:srgbClr val="FFFFFF"/>
                </a:solidFill>
                <a:latin typeface="Arial"/>
              </a:rPr>
              <a:t> Kumar</a:t>
            </a:r>
            <a:endParaRPr lang="en-IN" sz="1600" b="0" i="0" dirty="0">
              <a:solidFill>
                <a:srgbClr val="FFFFFF"/>
              </a:solidFill>
              <a:latin typeface="Arial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en-IN" sz="1600" i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IN" sz="1600" i="1" dirty="0" err="1">
                <a:solidFill>
                  <a:srgbClr val="FFFFFF"/>
                </a:solidFill>
                <a:latin typeface="Arial"/>
              </a:rPr>
              <a:t>InsightPilot</a:t>
            </a:r>
            <a:r>
              <a:rPr lang="en-IN" sz="1600" i="1" dirty="0">
                <a:solidFill>
                  <a:srgbClr val="FFFFFF"/>
                </a:solidFill>
                <a:latin typeface="Arial"/>
              </a:rPr>
              <a:t> AI</a:t>
            </a:r>
            <a:endParaRPr sz="1600" i="1" dirty="0">
              <a:solidFill>
                <a:srgbClr val="FFFFFF"/>
              </a:solidFill>
              <a:latin typeface="Arial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1" dirty="0">
                <a:solidFill>
                  <a:srgbClr val="E6DCFF"/>
                </a:solidFill>
                <a:latin typeface="Arial"/>
              </a:rPr>
              <a:t>Indian Institute of Technology, Patna</a:t>
            </a:r>
          </a:p>
        </p:txBody>
      </p:sp>
    </p:spTree>
    <p:extLst>
      <p:ext uri="{BB962C8B-B14F-4D97-AF65-F5344CB8AC3E}">
        <p14:creationId xmlns:p14="http://schemas.microsoft.com/office/powerpoint/2010/main" val="4001082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6" dur="700"/>
                                  <p:tgtEl>
                                    <p:spTgt spid="2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" presetID="10" presetClass="entr" presetSubtype="0" fill="hold" nodeType="afterEffect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>
                                  <p:cTn id="9" dur="700"/>
                                  <p:tgtEl>
                                    <p:spTgt spid="4"/>
                                  </p:tgtEl>
                                  <p:attrNameLst>
                                    <p:attrName>style.opacity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" grpId="0"/>
      <p:bldP spid="4" grpId="0"/>
    </p:bldLst>
  </p:timing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1_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4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1558</Words>
  <Application>Microsoft Office PowerPoint</Application>
  <PresentationFormat>Widescreen</PresentationFormat>
  <Paragraphs>254</Paragraphs>
  <Slides>17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17</vt:i4>
      </vt:variant>
    </vt:vector>
  </HeadingPairs>
  <TitlesOfParts>
    <vt:vector size="35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Accenture 2025</vt:lpstr>
      <vt:lpstr>1_Titles</vt:lpstr>
      <vt:lpstr>Titles</vt:lpstr>
      <vt:lpstr>1_Office Theme</vt:lpstr>
      <vt:lpstr>1_Accenture 2025</vt:lpstr>
      <vt:lpstr>PowerPoint Presentation</vt:lpstr>
      <vt:lpstr>Team details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Tolentino, Ma. Antonette</dc:creator>
  <cp:lastModifiedBy>Ayush Nathani</cp:lastModifiedBy>
  <cp:revision>8</cp:revision>
  <dcterms:created xsi:type="dcterms:W3CDTF">2026-07-24T04:09:52Z</dcterms:created>
  <dcterms:modified xsi:type="dcterms:W3CDTF">2026-09-01T20:21:55Z</dcterms:modified>
</cp:coreProperties>
</file>