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34" autoAdjust="0"/>
    <p:restoredTop sz="94610"/>
  </p:normalViewPr>
  <p:slideViewPr>
    <p:cSldViewPr snapToGrid="0" snapToObjects="1">
      <p:cViewPr>
        <p:scale>
          <a:sx n="76" d="100"/>
          <a:sy n="76" d="100"/>
        </p:scale>
        <p:origin x="45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Contribution %</c:v>
                </c:pt>
              </c:strCache>
            </c:strRef>
          </c:tx>
          <c:spPr>
            <a:solidFill>
              <a:srgbClr val="4ECFC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BF9-4493-9F85-43B1B898172F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0BF9-4493-9F85-43B1B898172F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0BF9-4493-9F85-43B1B898172F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0BF9-4493-9F85-43B1B898172F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E8EEF5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Atlanta DC Inventory Stockout</c:v>
                </c:pt>
                <c:pt idx="1">
                  <c:v>SKU-8821 Sales Velocity Contraction</c:v>
                </c:pt>
                <c:pt idx="2">
                  <c:v>Distributor PO Deferrals</c:v>
                </c:pt>
                <c:pt idx="3">
                  <c:v>Competitor Horizon Price Cut (-15%)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43.2</c:v>
                </c:pt>
                <c:pt idx="1">
                  <c:v>26.7</c:v>
                </c:pt>
                <c:pt idx="2">
                  <c:v>18.8</c:v>
                </c:pt>
                <c:pt idx="3">
                  <c:v>11.3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BF9-4493-9F85-43B1B898172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2A3B4E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AAB6C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5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0B1623">
            <a:alpha val="0"/>
          </a:srgbClr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B1623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2493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5486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150" dirty="0">
                <a:solidFill>
                  <a:srgbClr val="4ECF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ACCENTURE INNOVATION CHALLENGE 2026  ·  TRACK 3: BUSINESSINTELLIGENCE.AI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4173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InsightPilot AI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514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8FE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Enterprise Decision Intelligence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3246120"/>
            <a:ext cx="7863840" cy="0"/>
          </a:xfrm>
          <a:prstGeom prst="line">
            <a:avLst/>
          </a:prstGeom>
          <a:noFill/>
          <a:ln w="12700">
            <a:solidFill>
              <a:srgbClr val="2A3B4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34290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Anomaly  </a:t>
            </a:r>
            <a:r>
              <a:rPr lang="en-US" sz="1300" dirty="0">
                <a:solidFill>
                  <a:srgbClr val="AAB6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Root Cause  →  Verified Evidence  →  Decision Mechanics  →  Recommended Action  →  </a:t>
            </a:r>
            <a:r>
              <a:rPr lang="en-US" sz="1300" b="1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Predicted Outcome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9776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AAB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just tell executives what happened. Explain why it happened, prove it with evidence,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AAB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what to do, and simulate the business impact — in under 30 seconds.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5074920"/>
            <a:ext cx="2606040" cy="1051560"/>
          </a:xfrm>
          <a:prstGeom prst="roundRect">
            <a:avLst>
              <a:gd name="adj" fmla="val 7826"/>
            </a:avLst>
          </a:prstGeom>
          <a:solidFill>
            <a:srgbClr val="1B2A3A"/>
          </a:solidFill>
          <a:ln w="12700">
            <a:solidFill>
              <a:srgbClr val="2A3B4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77240" y="5184648"/>
            <a:ext cx="233172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89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-$1.23M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74243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50" dirty="0">
                <a:solidFill>
                  <a:srgbClr val="AAB6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EMPIRICAL DEFICIT DETECTED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10712" y="5074920"/>
            <a:ext cx="2606040" cy="1051560"/>
          </a:xfrm>
          <a:prstGeom prst="roundRect">
            <a:avLst>
              <a:gd name="adj" fmla="val 7826"/>
            </a:avLst>
          </a:prstGeom>
          <a:solidFill>
            <a:srgbClr val="1B2A3A"/>
          </a:solidFill>
          <a:ln w="12700">
            <a:solidFill>
              <a:srgbClr val="2A3B4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547872" y="5184648"/>
            <a:ext cx="233172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E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43.2%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3547872" y="574243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50" dirty="0">
                <a:solidFill>
                  <a:srgbClr val="AAB6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DRIVER ATTRIBUTION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81344" y="5074920"/>
            <a:ext cx="2606040" cy="1051560"/>
          </a:xfrm>
          <a:prstGeom prst="roundRect">
            <a:avLst>
              <a:gd name="adj" fmla="val 7826"/>
            </a:avLst>
          </a:prstGeom>
          <a:solidFill>
            <a:srgbClr val="1B2A3A"/>
          </a:solidFill>
          <a:ln w="12700">
            <a:solidFill>
              <a:srgbClr val="2A3B4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318504" y="5184648"/>
            <a:ext cx="233172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E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+$757.6K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6318504" y="574243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50" dirty="0">
                <a:solidFill>
                  <a:srgbClr val="AAB6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MODELED RECOVERY POOL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951976" y="5074920"/>
            <a:ext cx="2606040" cy="1051560"/>
          </a:xfrm>
          <a:prstGeom prst="roundRect">
            <a:avLst>
              <a:gd name="adj" fmla="val 7826"/>
            </a:avLst>
          </a:prstGeom>
          <a:solidFill>
            <a:srgbClr val="1B2A3A"/>
          </a:solidFill>
          <a:ln w="12700">
            <a:solidFill>
              <a:srgbClr val="2A3B4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9089136" y="5184648"/>
            <a:ext cx="233172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E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&lt;30 sec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9089136" y="574243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50" dirty="0">
                <a:solidFill>
                  <a:srgbClr val="AAB6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AUTOMATED RESOLUTION TIME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Ayush Kumar  —  Developer &amp; Architect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076895" y="6355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github.com/ayus1234/InsighPilotAI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4ECF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ENTERPRISE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$1.23M Deficit Sat Undiagnosed for Weeks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AAB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BI tools show what happened. Diagnosing why takes 14–28 business days of manual cross-silo triage — by which time distributor orders are cancelled and market share is lost.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246120" cy="566928"/>
          </a:xfrm>
          <a:prstGeom prst="roundRect">
            <a:avLst>
              <a:gd name="adj" fmla="val 14516"/>
            </a:avLst>
          </a:prstGeom>
          <a:solidFill>
            <a:srgbClr val="1B2A3A"/>
          </a:solidFill>
          <a:ln w="12700">
            <a:solidFill>
              <a:srgbClr val="2A3B4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14884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Enterprise Data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97480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E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935224"/>
            <a:ext cx="3246120" cy="566928"/>
          </a:xfrm>
          <a:prstGeom prst="roundRect">
            <a:avLst>
              <a:gd name="adj" fmla="val 14516"/>
            </a:avLst>
          </a:prstGeom>
          <a:solidFill>
            <a:srgbClr val="1B2A3A"/>
          </a:solidFill>
          <a:ln w="12700">
            <a:solidFill>
              <a:srgbClr val="2A3B4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77240" y="2935224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Analytics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483864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E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21608"/>
            <a:ext cx="3246120" cy="566928"/>
          </a:xfrm>
          <a:prstGeom prst="roundRect">
            <a:avLst>
              <a:gd name="adj" fmla="val 14516"/>
            </a:avLst>
          </a:prstGeom>
          <a:solidFill>
            <a:srgbClr val="1B2A3A"/>
          </a:solidFill>
          <a:ln w="12700">
            <a:solidFill>
              <a:srgbClr val="2A3B4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77240" y="372160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Decision Making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270248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E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507992"/>
            <a:ext cx="3246120" cy="566928"/>
          </a:xfrm>
          <a:prstGeom prst="roundRect">
            <a:avLst>
              <a:gd name="adj" fmla="val 14516"/>
            </a:avLst>
          </a:prstGeom>
          <a:solidFill>
            <a:srgbClr val="1B2A3A"/>
          </a:solidFill>
          <a:ln w="12700">
            <a:solidFill>
              <a:srgbClr val="2A3B4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" y="4507992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Without Grounded Evidence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011680" y="5239512"/>
            <a:ext cx="320040" cy="292608"/>
          </a:xfrm>
          <a:prstGeom prst="downArrow">
            <a:avLst/>
          </a:prstGeom>
          <a:solidFill>
            <a:srgbClr val="E8998F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5660136"/>
            <a:ext cx="3246120" cy="566928"/>
          </a:xfrm>
          <a:prstGeom prst="roundRect">
            <a:avLst>
              <a:gd name="adj" fmla="val 14516"/>
            </a:avLst>
          </a:prstGeom>
          <a:solidFill>
            <a:srgbClr val="241419"/>
          </a:solidFill>
          <a:ln w="12700">
            <a:solidFill>
              <a:srgbClr val="C97A7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77240" y="5660136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9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Business Decisions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60520" y="2148840"/>
            <a:ext cx="3657600" cy="1417320"/>
          </a:xfrm>
          <a:prstGeom prst="roundRect">
            <a:avLst>
              <a:gd name="adj" fmla="val 5806"/>
            </a:avLst>
          </a:prstGeom>
          <a:solidFill>
            <a:srgbClr val="1B2A3A"/>
          </a:solidFill>
          <a:ln w="12700">
            <a:solidFill>
              <a:srgbClr val="2A3B4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4297680" y="2258568"/>
            <a:ext cx="338328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89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-$1.23M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4297680" y="318211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50" dirty="0">
                <a:solidFill>
                  <a:srgbClr val="AAB6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 REVENUE GAP  ·  -7.97% VS Q2 BASELINE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019288" y="2148840"/>
            <a:ext cx="3657600" cy="1417320"/>
          </a:xfrm>
          <a:prstGeom prst="roundRect">
            <a:avLst>
              <a:gd name="adj" fmla="val 5806"/>
            </a:avLst>
          </a:prstGeom>
          <a:solidFill>
            <a:srgbClr val="1B2A3A"/>
          </a:solidFill>
          <a:ln w="12700">
            <a:solidFill>
              <a:srgbClr val="2A3B4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156448" y="2258568"/>
            <a:ext cx="338328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E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Days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8156448" y="318211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50" dirty="0">
                <a:solidFill>
                  <a:srgbClr val="AAB6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SKU-8821 ZERO-STOCK DURATION (ATLANTA DC)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60520" y="3767328"/>
            <a:ext cx="3657600" cy="1417320"/>
          </a:xfrm>
          <a:prstGeom prst="roundRect">
            <a:avLst>
              <a:gd name="adj" fmla="val 5806"/>
            </a:avLst>
          </a:prstGeom>
          <a:solidFill>
            <a:srgbClr val="1B2A3A"/>
          </a:solidFill>
          <a:ln w="12700">
            <a:solidFill>
              <a:srgbClr val="2A3B4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4297680" y="3877056"/>
            <a:ext cx="338328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E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POs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4297680" y="480060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50" dirty="0">
                <a:solidFill>
                  <a:srgbClr val="AAB6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DISTRIBUTOR ORDERS DEFERRED  ·  $240K VALUE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019288" y="3767328"/>
            <a:ext cx="3657600" cy="1417320"/>
          </a:xfrm>
          <a:prstGeom prst="roundRect">
            <a:avLst>
              <a:gd name="adj" fmla="val 5806"/>
            </a:avLst>
          </a:prstGeom>
          <a:solidFill>
            <a:srgbClr val="1B2A3A"/>
          </a:solidFill>
          <a:ln w="12700">
            <a:solidFill>
              <a:srgbClr val="2A3B4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8156448" y="3877056"/>
            <a:ext cx="338328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89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+310%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8156448" y="480060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50" dirty="0">
                <a:solidFill>
                  <a:srgbClr val="AAB6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 ESCALATIONS  ·  34 → 142 TICKETS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4160520" y="543153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chat tools invent metrics and lack a verifiable audit trail for executive sign-off.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INSIGHTPILOT AI · CONFIDENTIAL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16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4ECF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Anomaly to Verified Action in Under 30 Seconds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1752600" cy="1051560"/>
          </a:xfrm>
          <a:prstGeom prst="roundRect">
            <a:avLst>
              <a:gd name="adj" fmla="val 7826"/>
            </a:avLst>
          </a:prstGeom>
          <a:solidFill>
            <a:srgbClr val="C97A70"/>
          </a:solidFill>
          <a:ln w="12700">
            <a:solidFill>
              <a:srgbClr val="2A3B4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94360" y="2331720"/>
            <a:ext cx="1661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282952" y="2738628"/>
            <a:ext cx="256032" cy="237744"/>
          </a:xfrm>
          <a:prstGeom prst="chevron">
            <a:avLst/>
          </a:prstGeom>
          <a:solidFill>
            <a:srgbClr val="4ECFC8"/>
          </a:solidFill>
          <a:ln/>
        </p:spPr>
      </p:sp>
      <p:sp>
        <p:nvSpPr>
          <p:cNvPr id="7" name="Shape 5"/>
          <p:cNvSpPr/>
          <p:nvPr/>
        </p:nvSpPr>
        <p:spPr>
          <a:xfrm>
            <a:off x="2410968" y="2331720"/>
            <a:ext cx="1752600" cy="1051560"/>
          </a:xfrm>
          <a:prstGeom prst="roundRect">
            <a:avLst>
              <a:gd name="adj" fmla="val 7826"/>
            </a:avLst>
          </a:prstGeom>
          <a:solidFill>
            <a:srgbClr val="1B2A3A"/>
          </a:solidFill>
          <a:ln w="12700">
            <a:solidFill>
              <a:srgbClr val="2A3B4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456688" y="2331720"/>
            <a:ext cx="1661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45280" y="2738628"/>
            <a:ext cx="256032" cy="237744"/>
          </a:xfrm>
          <a:prstGeom prst="chevron">
            <a:avLst/>
          </a:prstGeom>
          <a:solidFill>
            <a:srgbClr val="4ECFC8"/>
          </a:solidFill>
          <a:ln/>
        </p:spPr>
      </p:sp>
      <p:sp>
        <p:nvSpPr>
          <p:cNvPr id="10" name="Shape 8"/>
          <p:cNvSpPr/>
          <p:nvPr/>
        </p:nvSpPr>
        <p:spPr>
          <a:xfrm>
            <a:off x="4273296" y="2331720"/>
            <a:ext cx="1752600" cy="1051560"/>
          </a:xfrm>
          <a:prstGeom prst="roundRect">
            <a:avLst>
              <a:gd name="adj" fmla="val 7826"/>
            </a:avLst>
          </a:prstGeom>
          <a:solidFill>
            <a:srgbClr val="1B2A3A"/>
          </a:solidFill>
          <a:ln w="12700">
            <a:solidFill>
              <a:srgbClr val="2A3B4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319016" y="2331720"/>
            <a:ext cx="1661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07608" y="2738628"/>
            <a:ext cx="256032" cy="237744"/>
          </a:xfrm>
          <a:prstGeom prst="chevron">
            <a:avLst/>
          </a:prstGeom>
          <a:solidFill>
            <a:srgbClr val="4ECFC8"/>
          </a:solidFill>
          <a:ln/>
        </p:spPr>
      </p:sp>
      <p:sp>
        <p:nvSpPr>
          <p:cNvPr id="13" name="Shape 11"/>
          <p:cNvSpPr/>
          <p:nvPr/>
        </p:nvSpPr>
        <p:spPr>
          <a:xfrm>
            <a:off x="6135624" y="2331720"/>
            <a:ext cx="1752600" cy="1051560"/>
          </a:xfrm>
          <a:prstGeom prst="roundRect">
            <a:avLst>
              <a:gd name="adj" fmla="val 7826"/>
            </a:avLst>
          </a:prstGeom>
          <a:solidFill>
            <a:srgbClr val="1B2A3A"/>
          </a:solidFill>
          <a:ln w="12700">
            <a:solidFill>
              <a:srgbClr val="2A3B4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181344" y="2331720"/>
            <a:ext cx="1661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869936" y="2738628"/>
            <a:ext cx="256032" cy="237744"/>
          </a:xfrm>
          <a:prstGeom prst="chevron">
            <a:avLst/>
          </a:prstGeom>
          <a:solidFill>
            <a:srgbClr val="4ECFC8"/>
          </a:solidFill>
          <a:ln/>
        </p:spPr>
      </p:sp>
      <p:sp>
        <p:nvSpPr>
          <p:cNvPr id="16" name="Shape 14"/>
          <p:cNvSpPr/>
          <p:nvPr/>
        </p:nvSpPr>
        <p:spPr>
          <a:xfrm>
            <a:off x="7997952" y="2331720"/>
            <a:ext cx="1752600" cy="1051560"/>
          </a:xfrm>
          <a:prstGeom prst="roundRect">
            <a:avLst>
              <a:gd name="adj" fmla="val 7826"/>
            </a:avLst>
          </a:prstGeom>
          <a:solidFill>
            <a:srgbClr val="1B2A3A"/>
          </a:solidFill>
          <a:ln w="12700">
            <a:solidFill>
              <a:srgbClr val="2A3B4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043672" y="2331720"/>
            <a:ext cx="1661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732264" y="2738628"/>
            <a:ext cx="256032" cy="237744"/>
          </a:xfrm>
          <a:prstGeom prst="chevron">
            <a:avLst/>
          </a:prstGeom>
          <a:solidFill>
            <a:srgbClr val="4ECFC8"/>
          </a:solidFill>
          <a:ln/>
        </p:spPr>
      </p:sp>
      <p:sp>
        <p:nvSpPr>
          <p:cNvPr id="19" name="Shape 17"/>
          <p:cNvSpPr/>
          <p:nvPr/>
        </p:nvSpPr>
        <p:spPr>
          <a:xfrm>
            <a:off x="9860280" y="2331720"/>
            <a:ext cx="1752600" cy="1051560"/>
          </a:xfrm>
          <a:prstGeom prst="roundRect">
            <a:avLst>
              <a:gd name="adj" fmla="val 7826"/>
            </a:avLst>
          </a:prstGeom>
          <a:solidFill>
            <a:srgbClr val="2F8F8A"/>
          </a:solidFill>
          <a:ln w="12700">
            <a:solidFill>
              <a:srgbClr val="2A3B4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906000" y="2331720"/>
            <a:ext cx="1661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3749040"/>
            <a:ext cx="11064240" cy="1188720"/>
          </a:xfrm>
          <a:prstGeom prst="roundRect">
            <a:avLst>
              <a:gd name="adj" fmla="val 6923"/>
            </a:avLst>
          </a:prstGeom>
          <a:solidFill>
            <a:srgbClr val="162332"/>
          </a:solidFill>
          <a:ln w="12700">
            <a:solidFill>
              <a:srgbClr val="2A3B4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14400" y="374904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8FE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“Don’t just tell executives what happened. Explain why it happened, prove it with evidence,</a:t>
            </a:r>
            <a:endParaRPr lang="en-US" sz="16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8FE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what to do, and simulate the potential business impact.”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8640" y="5257800"/>
            <a:ext cx="3566160" cy="1051560"/>
          </a:xfrm>
          <a:prstGeom prst="roundRect">
            <a:avLst>
              <a:gd name="adj" fmla="val 7826"/>
            </a:avLst>
          </a:prstGeom>
          <a:solidFill>
            <a:srgbClr val="1B2A3A"/>
          </a:solidFill>
          <a:ln w="12700">
            <a:solidFill>
              <a:srgbClr val="2A3B4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85800" y="5367528"/>
            <a:ext cx="329184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E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59253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50" dirty="0">
                <a:solidFill>
                  <a:srgbClr val="AAB6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MATHEMATICAL PRECISION — DETERMINISTIC CORE OWNS TRUTH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315968" y="5257800"/>
            <a:ext cx="3566160" cy="1051560"/>
          </a:xfrm>
          <a:prstGeom prst="roundRect">
            <a:avLst>
              <a:gd name="adj" fmla="val 7826"/>
            </a:avLst>
          </a:prstGeom>
          <a:solidFill>
            <a:srgbClr val="1B2A3A"/>
          </a:solidFill>
          <a:ln w="12700">
            <a:solidFill>
              <a:srgbClr val="2A3B4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4453128" y="5367528"/>
            <a:ext cx="329184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E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4453128" y="59253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50" dirty="0">
                <a:solidFill>
                  <a:srgbClr val="AAB6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SPECULATIVE HALLUCINATIONS PERMITTED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083296" y="5257800"/>
            <a:ext cx="3566160" cy="1051560"/>
          </a:xfrm>
          <a:prstGeom prst="roundRect">
            <a:avLst>
              <a:gd name="adj" fmla="val 7826"/>
            </a:avLst>
          </a:prstGeom>
          <a:solidFill>
            <a:srgbClr val="1B2A3A"/>
          </a:solidFill>
          <a:ln w="12700">
            <a:solidFill>
              <a:srgbClr val="2A3B4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8220456" y="5367528"/>
            <a:ext cx="329184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E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2400" dirty="0"/>
          </a:p>
        </p:txBody>
      </p:sp>
      <p:sp>
        <p:nvSpPr>
          <p:cNvPr id="31" name="Text 29"/>
          <p:cNvSpPr txBox="1"/>
          <p:nvPr/>
        </p:nvSpPr>
        <p:spPr>
          <a:xfrm>
            <a:off x="8220456" y="59253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50" dirty="0">
                <a:solidFill>
                  <a:srgbClr val="AAB6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MINIMUM CONFIDENCE BEFORE ABSTENTION GATE FIRES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INSIGHTPILOT AI · CONFIDENTIAL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4ECF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TECHNOLOGY &amp; AI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Systems Own Truth. AI Explains Grounded Facts.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729740" cy="1554480"/>
          </a:xfrm>
          <a:prstGeom prst="roundRect">
            <a:avLst>
              <a:gd name="adj" fmla="val 5294"/>
            </a:avLst>
          </a:prstGeom>
          <a:solidFill>
            <a:srgbClr val="1B2A3A"/>
          </a:solidFill>
          <a:ln w="12700">
            <a:solidFill>
              <a:srgbClr val="2A3B4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21792" y="2075688"/>
            <a:ext cx="15834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2834640"/>
            <a:ext cx="15834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4ECF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ERP · CRM · EDI · POS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264664" y="2642616"/>
            <a:ext cx="219456" cy="201168"/>
          </a:xfrm>
          <a:prstGeom prst="chevron">
            <a:avLst/>
          </a:prstGeom>
          <a:solidFill>
            <a:srgbClr val="4ECFC8"/>
          </a:solidFill>
          <a:ln/>
        </p:spPr>
      </p:sp>
      <p:sp>
        <p:nvSpPr>
          <p:cNvPr id="8" name="Shape 6"/>
          <p:cNvSpPr/>
          <p:nvPr/>
        </p:nvSpPr>
        <p:spPr>
          <a:xfrm>
            <a:off x="2415540" y="1965960"/>
            <a:ext cx="1729740" cy="1554480"/>
          </a:xfrm>
          <a:prstGeom prst="roundRect">
            <a:avLst>
              <a:gd name="adj" fmla="val 5294"/>
            </a:avLst>
          </a:prstGeom>
          <a:solidFill>
            <a:srgbClr val="1B2A3A"/>
          </a:solidFill>
          <a:ln w="12700">
            <a:solidFill>
              <a:srgbClr val="2A3B4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488692" y="2075688"/>
            <a:ext cx="15834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2488692" y="2834640"/>
            <a:ext cx="15834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4ECF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LangGraph 11-Node</a:t>
            </a:r>
            <a:endParaRPr lang="en-US" sz="8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4ECF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StateGraph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131564" y="2642616"/>
            <a:ext cx="219456" cy="201168"/>
          </a:xfrm>
          <a:prstGeom prst="chevron">
            <a:avLst/>
          </a:prstGeom>
          <a:solidFill>
            <a:srgbClr val="4ECFC8"/>
          </a:solidFill>
          <a:ln/>
        </p:spPr>
      </p:sp>
      <p:sp>
        <p:nvSpPr>
          <p:cNvPr id="12" name="Shape 10"/>
          <p:cNvSpPr/>
          <p:nvPr/>
        </p:nvSpPr>
        <p:spPr>
          <a:xfrm>
            <a:off x="4282440" y="1965960"/>
            <a:ext cx="1729740" cy="1554480"/>
          </a:xfrm>
          <a:prstGeom prst="roundRect">
            <a:avLst>
              <a:gd name="adj" fmla="val 5294"/>
            </a:avLst>
          </a:prstGeom>
          <a:solidFill>
            <a:srgbClr val="1B2A3A"/>
          </a:solidFill>
          <a:ln w="12700">
            <a:solidFill>
              <a:srgbClr val="2A3B4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355592" y="2075688"/>
            <a:ext cx="15834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355592" y="2834640"/>
            <a:ext cx="15834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4ECF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Groq LLaMA 3.3 70B +</a:t>
            </a:r>
            <a:endParaRPr lang="en-US" sz="8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4ECF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2.5 routing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998464" y="2642616"/>
            <a:ext cx="219456" cy="201168"/>
          </a:xfrm>
          <a:prstGeom prst="chevron">
            <a:avLst/>
          </a:prstGeom>
          <a:solidFill>
            <a:srgbClr val="4ECFC8"/>
          </a:solidFill>
          <a:ln/>
        </p:spPr>
      </p:sp>
      <p:sp>
        <p:nvSpPr>
          <p:cNvPr id="16" name="Shape 14"/>
          <p:cNvSpPr/>
          <p:nvPr/>
        </p:nvSpPr>
        <p:spPr>
          <a:xfrm>
            <a:off x="6149340" y="1965960"/>
            <a:ext cx="1729740" cy="1554480"/>
          </a:xfrm>
          <a:prstGeom prst="roundRect">
            <a:avLst>
              <a:gd name="adj" fmla="val 5294"/>
            </a:avLst>
          </a:prstGeom>
          <a:solidFill>
            <a:srgbClr val="10262A"/>
          </a:solidFill>
          <a:ln w="12700">
            <a:solidFill>
              <a:srgbClr val="4ECFC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222492" y="2075688"/>
            <a:ext cx="15834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222492" y="2834640"/>
            <a:ext cx="15834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4ECF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SHA-256</a:t>
            </a:r>
            <a:endParaRPr lang="en-US" sz="8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4ECF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Cryptographic Lineage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865364" y="2642616"/>
            <a:ext cx="219456" cy="201168"/>
          </a:xfrm>
          <a:prstGeom prst="chevron">
            <a:avLst/>
          </a:prstGeom>
          <a:solidFill>
            <a:srgbClr val="4ECFC8"/>
          </a:solidFill>
          <a:ln/>
        </p:spPr>
      </p:sp>
      <p:sp>
        <p:nvSpPr>
          <p:cNvPr id="20" name="Shape 18"/>
          <p:cNvSpPr/>
          <p:nvPr/>
        </p:nvSpPr>
        <p:spPr>
          <a:xfrm>
            <a:off x="8016240" y="1965960"/>
            <a:ext cx="1729740" cy="1554480"/>
          </a:xfrm>
          <a:prstGeom prst="roundRect">
            <a:avLst>
              <a:gd name="adj" fmla="val 5294"/>
            </a:avLst>
          </a:prstGeom>
          <a:solidFill>
            <a:srgbClr val="1B2A3A"/>
          </a:solidFill>
          <a:ln w="12700">
            <a:solidFill>
              <a:srgbClr val="2A3B4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089392" y="2075688"/>
            <a:ext cx="15834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&amp;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8089392" y="2834640"/>
            <a:ext cx="15834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4ECF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Deterministic Python</a:t>
            </a:r>
            <a:endParaRPr lang="en-US" sz="8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4ECF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Analytics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9732264" y="2642616"/>
            <a:ext cx="219456" cy="201168"/>
          </a:xfrm>
          <a:prstGeom prst="chevron">
            <a:avLst/>
          </a:prstGeom>
          <a:solidFill>
            <a:srgbClr val="4ECFC8"/>
          </a:solidFill>
          <a:ln/>
        </p:spPr>
      </p:sp>
      <p:sp>
        <p:nvSpPr>
          <p:cNvPr id="24" name="Shape 22"/>
          <p:cNvSpPr/>
          <p:nvPr/>
        </p:nvSpPr>
        <p:spPr>
          <a:xfrm>
            <a:off x="9883140" y="1965960"/>
            <a:ext cx="1729740" cy="1554480"/>
          </a:xfrm>
          <a:prstGeom prst="roundRect">
            <a:avLst>
              <a:gd name="adj" fmla="val 5294"/>
            </a:avLst>
          </a:prstGeom>
          <a:solidFill>
            <a:srgbClr val="1B2A3A"/>
          </a:solidFill>
          <a:ln w="12700">
            <a:solidFill>
              <a:srgbClr val="2A3B4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956292" y="2075688"/>
            <a:ext cx="15834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956292" y="2834640"/>
            <a:ext cx="15834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4ECF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Role-Tailored</a:t>
            </a:r>
            <a:endParaRPr lang="en-US" sz="8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4ECF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Boardroom Synthesis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3886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AB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architectural principle: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1605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AB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“LLMs are strictly forbidden from calculating metrics or inventing evidence — they explain facts the deterministic engine has already proven.”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5074920"/>
            <a:ext cx="3566160" cy="1188720"/>
          </a:xfrm>
          <a:prstGeom prst="roundRect">
            <a:avLst>
              <a:gd name="adj" fmla="val 6923"/>
            </a:avLst>
          </a:prstGeom>
          <a:solidFill>
            <a:srgbClr val="1B2A3A"/>
          </a:solidFill>
          <a:ln w="12700">
            <a:solidFill>
              <a:srgbClr val="2A3B4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685800" y="5184648"/>
            <a:ext cx="329184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E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Nodes</a:t>
            </a:r>
            <a:endParaRPr lang="en-US" sz="24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" y="587959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50" dirty="0">
                <a:solidFill>
                  <a:srgbClr val="AAB6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LANGGRAPH STATEGRAPH ORCHESTRATION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315968" y="5074920"/>
            <a:ext cx="3566160" cy="1188720"/>
          </a:xfrm>
          <a:prstGeom prst="roundRect">
            <a:avLst>
              <a:gd name="adj" fmla="val 6923"/>
            </a:avLst>
          </a:prstGeom>
          <a:solidFill>
            <a:srgbClr val="1B2A3A"/>
          </a:solidFill>
          <a:ln w="12700">
            <a:solidFill>
              <a:srgbClr val="2A3B4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4453128" y="5184648"/>
            <a:ext cx="329184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E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Engines</a:t>
            </a:r>
            <a:endParaRPr lang="en-US" sz="2400" dirty="0"/>
          </a:p>
        </p:txBody>
      </p:sp>
      <p:sp>
        <p:nvSpPr>
          <p:cNvPr id="34" name="Text 32"/>
          <p:cNvSpPr txBox="1"/>
          <p:nvPr/>
        </p:nvSpPr>
        <p:spPr>
          <a:xfrm>
            <a:off x="4453128" y="587959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50" dirty="0">
                <a:solidFill>
                  <a:srgbClr val="AAB6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GROQ + GEMINI MULTI-MODEL POOL WITH FALLBACK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083296" y="5074920"/>
            <a:ext cx="3566160" cy="1188720"/>
          </a:xfrm>
          <a:prstGeom prst="roundRect">
            <a:avLst>
              <a:gd name="adj" fmla="val 6923"/>
            </a:avLst>
          </a:prstGeom>
          <a:solidFill>
            <a:srgbClr val="1B2A3A"/>
          </a:solidFill>
          <a:ln w="12700">
            <a:solidFill>
              <a:srgbClr val="2A3B4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8220456" y="5184648"/>
            <a:ext cx="329184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E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</a:t>
            </a:r>
            <a:endParaRPr lang="en-US" sz="2400" dirty="0"/>
          </a:p>
        </p:txBody>
      </p:sp>
      <p:sp>
        <p:nvSpPr>
          <p:cNvPr id="37" name="Text 35"/>
          <p:cNvSpPr txBox="1"/>
          <p:nvPr/>
        </p:nvSpPr>
        <p:spPr>
          <a:xfrm>
            <a:off x="8220456" y="587959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50" dirty="0">
                <a:solidFill>
                  <a:srgbClr val="AAB6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CRYPTOGRAPHIC EVIDENCE LINEAGE ON EVERY RECORD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INSIGHTPILOT AI · CONFIDENTIAL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16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4ECF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EXPERIENCE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Executives See the Anomaly the Moment It Happens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288536" y="1499616"/>
            <a:ext cx="7379208" cy="5001768"/>
          </a:xfrm>
          <a:prstGeom prst="roundRect">
            <a:avLst>
              <a:gd name="adj" fmla="val 1463"/>
            </a:avLst>
          </a:prstGeom>
          <a:solidFill>
            <a:srgbClr val="05090F"/>
          </a:solidFill>
          <a:ln w="19050">
            <a:solidFill>
              <a:srgbClr val="2A3B4E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5" name="Image 0" descr="assets/command_cent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343400" y="1554480"/>
            <a:ext cx="7269480" cy="4892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343400" y="6455664"/>
            <a:ext cx="7269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screenshot · illustrative interface data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128016" cy="128016"/>
          </a:xfrm>
          <a:prstGeom prst="ellipse">
            <a:avLst/>
          </a:prstGeom>
          <a:solidFill>
            <a:srgbClr val="4ECFC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" y="15544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Command Center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1865376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B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KPI — revenue, churn, inventory health, margin — synced live across all connected enterprise systems.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807208"/>
            <a:ext cx="128016" cy="128016"/>
          </a:xfrm>
          <a:prstGeom prst="ellipse">
            <a:avLst/>
          </a:prstGeom>
          <a:solidFill>
            <a:srgbClr val="4ECFC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22960" y="27614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Executive Summary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3072384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B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plain-English narrative of what changed, generated only from grounded, verified data — never invented.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4014216"/>
            <a:ext cx="128016" cy="128016"/>
          </a:xfrm>
          <a:prstGeom prst="ellipse">
            <a:avLst/>
          </a:prstGeom>
          <a:solidFill>
            <a:srgbClr val="4ECFC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22960" y="396849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Drill-Down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4279392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B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priority alert opens directly into the Decision Graph, tracing the anomaly to its root cause.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5193792"/>
            <a:ext cx="3657600" cy="777240"/>
          </a:xfrm>
          <a:prstGeom prst="roundRect">
            <a:avLst>
              <a:gd name="adj" fmla="val 10588"/>
            </a:avLst>
          </a:prstGeom>
          <a:solidFill>
            <a:srgbClr val="1B2A3A"/>
          </a:solidFill>
          <a:ln w="12700">
            <a:solidFill>
              <a:srgbClr val="2A3B4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685800" y="5303520"/>
            <a:ext cx="338328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E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Systems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685800" y="558698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50" dirty="0">
                <a:solidFill>
                  <a:srgbClr val="AAB6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SOURCES SYNCHRONIZED LIVE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INSIGHTPILOT AI · CONFIDENTIAL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4ECF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EXPERIENCE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Investigation Is Auditable, Step by Step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93776" y="1453896"/>
            <a:ext cx="11173968" cy="3995928"/>
          </a:xfrm>
          <a:prstGeom prst="roundRect">
            <a:avLst>
              <a:gd name="adj" fmla="val 1831"/>
            </a:avLst>
          </a:prstGeom>
          <a:solidFill>
            <a:srgbClr val="05090F"/>
          </a:solidFill>
          <a:ln w="19050">
            <a:solidFill>
              <a:srgbClr val="2A3B4E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5" name="Image 0" descr="assets/timelin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508760"/>
            <a:ext cx="11064240" cy="3886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449824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screenshot · illustrative interface data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7424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AB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orchestrates an 11-node multi-agent investigation — Detecting → Investigating → Validating → Simulating → Briefing Ready — producing a complete, replayable audit trail for every conclusion.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INSIGHTPILOT AI · CONFIDENTIAL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16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4ECF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 BUSINESS INVESTIGATION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Why Did North America East Revenue Decline?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decomposition of a -$1,230,000.01 net variance across 8 enterprise systems.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64240" cy="329184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4ECFC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Metric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ECFC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Baseline (Q2 2026)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ECFC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Actual (Q3 2026)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ECFC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Gap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ECFC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Status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E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East Region Net Revenue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$15,430,000.06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$14,200,000.05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-$1,230,000.01 (-7.97%)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899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Deficit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SKU-8821 Stockout Duration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 Days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14.0 Days (Atlanta DC)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+14.0 Days Unfulfilled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Bottleneck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Distributor PO Deferrals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Held Orders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 Held Orders ($240K)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 Postponed POs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 Friction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Escalations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 Baseline Tickets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 Backlog Tickets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+310% Surge in SLA Breaches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Impact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3492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E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the Atlanta DC stockout precedes 85% of distributor cancellations — the trigger event behind the entire deficit cascade.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INSIGHTPILOT AI · CONFIDENTIAL</a:t>
            </a:r>
            <a:endParaRPr lang="en-US" sz="900" dirty="0"/>
          </a:p>
        </p:txBody>
      </p:sp>
      <p:sp>
        <p:nvSpPr>
          <p:cNvPr id="5" name="Text 5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16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4ECF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 BUSINESS INVESTIGATION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Interactive Graph Connects Anomaly to Action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3922776" y="1545336"/>
            <a:ext cx="7744968" cy="4407408"/>
          </a:xfrm>
          <a:prstGeom prst="roundRect">
            <a:avLst>
              <a:gd name="adj" fmla="val 1660"/>
            </a:avLst>
          </a:prstGeom>
          <a:solidFill>
            <a:srgbClr val="05090F"/>
          </a:solidFill>
          <a:ln w="19050">
            <a:solidFill>
              <a:srgbClr val="2A3B4E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5" name="Image 0" descr="assets/decision_graph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977640" y="1600200"/>
            <a:ext cx="7635240" cy="42976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977640" y="5952744"/>
            <a:ext cx="7635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screenshot · illustrative interface data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640080" y="1709928"/>
            <a:ext cx="457200" cy="457200"/>
          </a:xfrm>
          <a:prstGeom prst="ellipse">
            <a:avLst/>
          </a:prstGeom>
          <a:solidFill>
            <a:srgbClr val="202E3D"/>
          </a:solidFill>
          <a:ln w="15875">
            <a:solidFill>
              <a:srgbClr val="4ECFC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E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234440" y="16459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Anomaly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1975104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B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revenue anomaly is detected and flagged as critical the moment it crosses threshold.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3172968"/>
            <a:ext cx="457200" cy="457200"/>
          </a:xfrm>
          <a:prstGeom prst="ellipse">
            <a:avLst/>
          </a:prstGeom>
          <a:solidFill>
            <a:srgbClr val="202E3D"/>
          </a:solidFill>
          <a:ln w="15875">
            <a:solidFill>
              <a:srgbClr val="4ECFC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E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234440" y="3108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Investigation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1234440" y="3438144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B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trace the business drivers behind the anomaly through a validated causal chain.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0080" y="4636008"/>
            <a:ext cx="457200" cy="457200"/>
          </a:xfrm>
          <a:prstGeom prst="ellipse">
            <a:avLst/>
          </a:prstGeom>
          <a:solidFill>
            <a:srgbClr val="202E3D"/>
          </a:solidFill>
          <a:ln w="15875">
            <a:solidFill>
              <a:srgbClr val="4ECFC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0080" y="4636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E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234440" y="4572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Path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1234440" y="4901184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B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and causal relationships connect directly to a recommended, ROI-scored action.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INSIGHTPILOT AI · CONFIDENTIAL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16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4ECF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 CAUSE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Atlanta DC Stockout Explains 43.2% of the Revenue Miss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Exhaustive mathematical decomposition explaining 100.0% of net financial variance.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828800"/>
          <a:ext cx="676656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589520" y="1828800"/>
            <a:ext cx="3749040" cy="1005840"/>
          </a:xfrm>
          <a:prstGeom prst="roundRect">
            <a:avLst>
              <a:gd name="adj" fmla="val 8182"/>
            </a:avLst>
          </a:prstGeom>
          <a:solidFill>
            <a:srgbClr val="1B2A3A"/>
          </a:solidFill>
          <a:ln w="12700">
            <a:solidFill>
              <a:srgbClr val="2A3B4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726680" y="1938528"/>
            <a:ext cx="347472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E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92.4%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7726680" y="245059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50" dirty="0">
                <a:solidFill>
                  <a:srgbClr val="AAB6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 CONFIDENCE ACROSS DRIVERS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589520" y="2999232"/>
            <a:ext cx="3749040" cy="1005840"/>
          </a:xfrm>
          <a:prstGeom prst="roundRect">
            <a:avLst>
              <a:gd name="adj" fmla="val 8182"/>
            </a:avLst>
          </a:prstGeom>
          <a:solidFill>
            <a:srgbClr val="1B2A3A"/>
          </a:solidFill>
          <a:ln w="12700">
            <a:solidFill>
              <a:srgbClr val="2A3B4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726680" y="3108960"/>
            <a:ext cx="347472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E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7726680" y="362102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50" dirty="0">
                <a:solidFill>
                  <a:srgbClr val="AAB6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 FINANCIAL VARIANCE EXPLAINED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7589520" y="4169664"/>
            <a:ext cx="3749040" cy="1005840"/>
          </a:xfrm>
          <a:prstGeom prst="roundRect">
            <a:avLst>
              <a:gd name="adj" fmla="val 8182"/>
            </a:avLst>
          </a:prstGeom>
          <a:solidFill>
            <a:srgbClr val="1B2A3A"/>
          </a:solidFill>
          <a:ln w="12700">
            <a:solidFill>
              <a:srgbClr val="2A3B4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726680" y="4279392"/>
            <a:ext cx="347472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89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-$1.23M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7726680" y="479145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50" dirty="0">
                <a:solidFill>
                  <a:srgbClr val="AAB6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ATTRIBUTED FINANCIAL IMPACT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7589520" y="538581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8FE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driver — 94% confidence, directly controllable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INSIGHTPILOT AI · CONFIDENTIAL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4ECF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 &amp; TRUST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Conclusion Traces to Cryptographically Verified Evidence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93776" y="1545336"/>
            <a:ext cx="7470648" cy="4270248"/>
          </a:xfrm>
          <a:prstGeom prst="roundRect">
            <a:avLst>
              <a:gd name="adj" fmla="val 1713"/>
            </a:avLst>
          </a:prstGeom>
          <a:solidFill>
            <a:srgbClr val="05090F"/>
          </a:solidFill>
          <a:ln w="19050">
            <a:solidFill>
              <a:srgbClr val="2A3B4E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5" name="Image 0" descr="assets/evidence_workspac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600200"/>
            <a:ext cx="7360920" cy="41605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815584"/>
            <a:ext cx="7360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screenshot · illustrative interface data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8138160" y="1600200"/>
            <a:ext cx="3520440" cy="1051560"/>
          </a:xfrm>
          <a:prstGeom prst="roundRect">
            <a:avLst>
              <a:gd name="adj" fmla="val 7826"/>
            </a:avLst>
          </a:prstGeom>
          <a:solidFill>
            <a:srgbClr val="1B2A3A"/>
          </a:solidFill>
          <a:ln w="12700">
            <a:solidFill>
              <a:srgbClr val="2A3B4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275320" y="1709928"/>
            <a:ext cx="324612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E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Records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8275320" y="2267712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50" dirty="0">
                <a:solidFill>
                  <a:srgbClr val="AAB6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MULTI-MODAL EVIDENCE — 8 STRUCTURED + 4 UNSTRUCTURED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8138160" y="2788920"/>
            <a:ext cx="3520440" cy="1051560"/>
          </a:xfrm>
          <a:prstGeom prst="roundRect">
            <a:avLst>
              <a:gd name="adj" fmla="val 7826"/>
            </a:avLst>
          </a:prstGeom>
          <a:solidFill>
            <a:srgbClr val="1B2A3A"/>
          </a:solidFill>
          <a:ln w="12700">
            <a:solidFill>
              <a:srgbClr val="2A3B4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8275320" y="2898648"/>
            <a:ext cx="324612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E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8275320" y="3456432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50" dirty="0">
                <a:solidFill>
                  <a:srgbClr val="AAB6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SHA-256 CRYPTOGRAPHIC DIGEST VERIFICATION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138160" y="3977640"/>
            <a:ext cx="3520440" cy="1051560"/>
          </a:xfrm>
          <a:prstGeom prst="roundRect">
            <a:avLst>
              <a:gd name="adj" fmla="val 7826"/>
            </a:avLst>
          </a:prstGeom>
          <a:solidFill>
            <a:srgbClr val="1B2A3A"/>
          </a:solidFill>
          <a:ln w="12700">
            <a:solidFill>
              <a:srgbClr val="2A3B4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8275320" y="4087368"/>
            <a:ext cx="324612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E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SOX-Ready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8275320" y="4645152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50" dirty="0">
                <a:solidFill>
                  <a:srgbClr val="AAB6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GOVERNANCE PROOF FOR ENTERPRISE AUDIT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8138160" y="516636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AB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feeds from SAP S/4HANA, NetSuite EDI, Salesforce CRM, and retail POS are cross-verified against unstructured distributor and support communications.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INSIGHTPILOT AI · CONFIDENTIAL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4ECF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Actions Recover 61.6% of the Deficit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34456" y="1545336"/>
            <a:ext cx="5733288" cy="4270248"/>
          </a:xfrm>
          <a:prstGeom prst="roundRect">
            <a:avLst>
              <a:gd name="adj" fmla="val 1713"/>
            </a:avLst>
          </a:prstGeom>
          <a:solidFill>
            <a:srgbClr val="05090F"/>
          </a:solidFill>
          <a:ln w="19050">
            <a:solidFill>
              <a:srgbClr val="2A3B4E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5" name="Image 0" descr="assets/recommendation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89320" y="1600200"/>
            <a:ext cx="5623560" cy="41605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89320" y="5815584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screenshot · illustrative interface data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166360" cy="1170432"/>
          </a:xfrm>
          <a:prstGeom prst="roundRect">
            <a:avLst>
              <a:gd name="adj" fmla="val 7031"/>
            </a:avLst>
          </a:prstGeom>
          <a:solidFill>
            <a:srgbClr val="1B2A3A"/>
          </a:solidFill>
          <a:ln w="12700">
            <a:solidFill>
              <a:srgbClr val="2A3B4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31520" y="17099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4ECF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Priority 1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4206240" y="17099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4E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+$484,000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19659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Stock Transfer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31343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B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Chicago → Atlanta DC   ·   SLA: 14 Days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" y="2926080"/>
            <a:ext cx="5166360" cy="1170432"/>
          </a:xfrm>
          <a:prstGeom prst="roundRect">
            <a:avLst>
              <a:gd name="adj" fmla="val 7031"/>
            </a:avLst>
          </a:prstGeom>
          <a:solidFill>
            <a:srgbClr val="1B2A3A"/>
          </a:solidFill>
          <a:ln w="12700">
            <a:solidFill>
              <a:srgbClr val="2A3B4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31520" y="30358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4ECF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Priority 2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4206240" y="30358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4E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+$180,000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32918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 PO Discount Incentive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363931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B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-4% early release, 29 POs   ·   SLA: 7 Days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48640" y="4251960"/>
            <a:ext cx="5166360" cy="1170432"/>
          </a:xfrm>
          <a:prstGeom prst="roundRect">
            <a:avLst>
              <a:gd name="adj" fmla="val 7031"/>
            </a:avLst>
          </a:prstGeom>
          <a:solidFill>
            <a:srgbClr val="1B2A3A"/>
          </a:solidFill>
          <a:ln w="12700">
            <a:solidFill>
              <a:srgbClr val="2A3B4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731520" y="43616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4ECF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Priority 3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4206240" y="43616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4E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+$93,600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731520" y="46177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Retail Co-Op Counter-Promotion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731520" y="496519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B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Counters competitor pricing   ·   SLA: 30 Days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48640" y="5596128"/>
            <a:ext cx="5166360" cy="594360"/>
          </a:xfrm>
          <a:prstGeom prst="roundRect">
            <a:avLst>
              <a:gd name="adj" fmla="val 13846"/>
            </a:avLst>
          </a:prstGeom>
          <a:solidFill>
            <a:srgbClr val="10262A"/>
          </a:solidFill>
          <a:ln w="12700">
            <a:solidFill>
              <a:srgbClr val="4ECFC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777240" y="5596128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Modeled Recovery Pool:  </a:t>
            </a:r>
            <a:r>
              <a:rPr lang="en-US" sz="1350" b="1" dirty="0">
                <a:solidFill>
                  <a:srgbClr val="4E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+$757,600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INSIGHTPILOT AI · CONFIDENTIAL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4ECF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 &amp; TRUST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Investigation to Boardroom-Ready Briefing in One Click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93776" y="1545336"/>
            <a:ext cx="11173968" cy="3721608"/>
          </a:xfrm>
          <a:prstGeom prst="roundRect">
            <a:avLst>
              <a:gd name="adj" fmla="val 1966"/>
            </a:avLst>
          </a:prstGeom>
          <a:solidFill>
            <a:srgbClr val="05090F"/>
          </a:solidFill>
          <a:ln w="19050">
            <a:solidFill>
              <a:srgbClr val="2A3B4E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5" name="Image 0" descr="assets/briefin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600200"/>
            <a:ext cx="11064240" cy="36118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26694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screenshot · illustrative interface data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48640" y="5577840"/>
            <a:ext cx="2651760" cy="914400"/>
          </a:xfrm>
          <a:prstGeom prst="roundRect">
            <a:avLst>
              <a:gd name="adj" fmla="val 9000"/>
            </a:avLst>
          </a:prstGeom>
          <a:solidFill>
            <a:srgbClr val="1B2A3A"/>
          </a:solidFill>
          <a:ln w="12700">
            <a:solidFill>
              <a:srgbClr val="2A3B4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40080" y="55778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E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View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64992" y="5577840"/>
            <a:ext cx="2651760" cy="914400"/>
          </a:xfrm>
          <a:prstGeom prst="roundRect">
            <a:avLst>
              <a:gd name="adj" fmla="val 9000"/>
            </a:avLst>
          </a:prstGeom>
          <a:solidFill>
            <a:srgbClr val="1B2A3A"/>
          </a:solidFill>
          <a:ln w="12700">
            <a:solidFill>
              <a:srgbClr val="2A3B4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3456432" y="55778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E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Supply Chain View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81344" y="5577840"/>
            <a:ext cx="2651760" cy="914400"/>
          </a:xfrm>
          <a:prstGeom prst="roundRect">
            <a:avLst>
              <a:gd name="adj" fmla="val 9000"/>
            </a:avLst>
          </a:prstGeom>
          <a:solidFill>
            <a:srgbClr val="1B2A3A"/>
          </a:solidFill>
          <a:ln w="12700">
            <a:solidFill>
              <a:srgbClr val="2A3B4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272784" y="55778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E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 View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997696" y="5577840"/>
            <a:ext cx="2651760" cy="914400"/>
          </a:xfrm>
          <a:prstGeom prst="roundRect">
            <a:avLst>
              <a:gd name="adj" fmla="val 9000"/>
            </a:avLst>
          </a:prstGeom>
          <a:solidFill>
            <a:srgbClr val="1B2A3A"/>
          </a:solidFill>
          <a:ln w="12700">
            <a:solidFill>
              <a:srgbClr val="2A3B4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9089136" y="55778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E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Director View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INSIGHTPILOT AI · CONFIDENTIAL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4ECF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 VALUE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2.7x First-Year ROI, Recovered in Under 90 Days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1B2A3A"/>
          </a:solidFill>
          <a:ln w="12700">
            <a:solidFill>
              <a:srgbClr val="2A3B4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664208"/>
            <a:ext cx="24231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E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$180K/yr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54203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50" dirty="0">
                <a:solidFill>
                  <a:srgbClr val="AAB6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ENTERPRISE SAAS LICENSE PER BUSINESS UNIT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410712" y="155448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1B2A3A"/>
          </a:solidFill>
          <a:ln w="12700">
            <a:solidFill>
              <a:srgbClr val="2A3B4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547872" y="1664208"/>
            <a:ext cx="24231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E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+$484K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3547872" y="254203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50" dirty="0">
                <a:solidFill>
                  <a:srgbClr val="AAB6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RECOVERED REVENUE — SINGLE PREVENTED STOCKOUT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72784" y="155448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1B2A3A"/>
          </a:solidFill>
          <a:ln w="12700">
            <a:solidFill>
              <a:srgbClr val="2A3B4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09944" y="1664208"/>
            <a:ext cx="24231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E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2.7x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6409944" y="254203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50" dirty="0">
                <a:solidFill>
                  <a:srgbClr val="AAB6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FIRST-YEAR RETURN ON INVESTMENT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134856" y="155448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1B2A3A"/>
          </a:solidFill>
          <a:ln w="12700">
            <a:solidFill>
              <a:srgbClr val="2A3B4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272016" y="1664208"/>
            <a:ext cx="24231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E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&lt;90 Days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9272016" y="254203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50" dirty="0">
                <a:solidFill>
                  <a:srgbClr val="AAB6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INVESTMENT PAYBACK PERIOD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3200400"/>
            <a:ext cx="6675120" cy="2834640"/>
          </a:xfrm>
          <a:prstGeom prst="roundRect">
            <a:avLst>
              <a:gd name="adj" fmla="val 2903"/>
            </a:avLst>
          </a:prstGeom>
          <a:solidFill>
            <a:srgbClr val="162332"/>
          </a:solidFill>
          <a:ln w="12700">
            <a:solidFill>
              <a:srgbClr val="2A3B4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22960" y="340156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Model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3840480"/>
            <a:ext cx="62179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Annual SaaS License: </a:t>
            </a:r>
            <a:r>
              <a:rPr lang="en-US" sz="1250" dirty="0">
                <a:solidFill>
                  <a:srgbClr val="AAB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$180,000 / year / business unit
</a:t>
            </a:r>
            <a:r>
              <a:rPr lang="en-US" sz="125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Enterprise Connector Onboarding: </a:t>
            </a:r>
            <a:r>
              <a:rPr lang="en-US" sz="1250" dirty="0">
                <a:solidFill>
                  <a:srgbClr val="AAB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$45,000 one-time
</a:t>
            </a:r>
            <a:r>
              <a:rPr lang="en-US" sz="125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Target Account Scale: </a:t>
            </a:r>
            <a:r>
              <a:rPr lang="en-US" sz="1250" dirty="0">
                <a:solidFill>
                  <a:srgbClr val="AAB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$250M+ regional revenue enterprises
</a:t>
            </a:r>
            <a:r>
              <a:rPr lang="en-US" sz="125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Expansion Vectors: </a:t>
            </a:r>
            <a:r>
              <a:rPr lang="en-US" sz="1250" dirty="0">
                <a:solidFill>
                  <a:srgbClr val="AAB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→ Commercial Sales → Finance → Procurement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452360" y="3200400"/>
            <a:ext cx="4160520" cy="2834640"/>
          </a:xfrm>
          <a:prstGeom prst="roundRect">
            <a:avLst>
              <a:gd name="adj" fmla="val 2903"/>
            </a:avLst>
          </a:prstGeom>
          <a:solidFill>
            <a:srgbClr val="10262A"/>
          </a:solidFill>
          <a:ln w="12700">
            <a:solidFill>
              <a:srgbClr val="4ECFC8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726680" y="34015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E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Moat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726680" y="3840480"/>
            <a:ext cx="36576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AB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generic LLM chat wrappers that hallucinate calculations, InsightPilot AI is built on strict mathematical determinism, cryptographic SHA-256 proof, and a calibrated abstention guard — fully compliant with Enterprise Audit, SOX, and Corporate Governance standards.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INSIGHTPILOT AI · CONFIDENTIAL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4ECF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SCALABILITY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Engineering, Production-Tested</a:t>
            </a:r>
            <a:endParaRPr lang="en-US" sz="2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367588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26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4ECFC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Layer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4ECFC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Technologies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4ECFC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Verification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E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3.11+, FastAPI (ASGI), Pydantic v2, Uvicorn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8FE7E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305/305 Tests Passing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Deterministic 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Pure Python Engines (KPI, Driver, Evidence, Confidence)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8FE7E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100.000% Mathematical 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Orchestration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 11-Node StateGraph, Groq LLaMA 3.3 70B, Gemini 2.5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8FE7E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Grounded Facts Only, Calibrated Abstention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Web App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Next.js 14.2 (App Router), React 18, Tailwind CSS, Lucide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8FE7E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10/10 Static Routes Pre-Rendered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Lineage &amp; Security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Normalized CSV Schemas (43K+ Rows), SHA-256 Hashes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8FE7E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Cryptographic Digest Verification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49240"/>
            <a:ext cx="3566160" cy="960120"/>
          </a:xfrm>
          <a:prstGeom prst="roundRect">
            <a:avLst>
              <a:gd name="adj" fmla="val 8571"/>
            </a:avLst>
          </a:prstGeom>
          <a:solidFill>
            <a:srgbClr val="1B2A3A"/>
          </a:solidFill>
          <a:ln w="12700">
            <a:solidFill>
              <a:srgbClr val="2A3B4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85800" y="5458968"/>
            <a:ext cx="329184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E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305 Tests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59253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50" dirty="0">
                <a:solidFill>
                  <a:srgbClr val="AAB6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GREEN BACKEND TEST SUITE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315968" y="5349240"/>
            <a:ext cx="3566160" cy="960120"/>
          </a:xfrm>
          <a:prstGeom prst="roundRect">
            <a:avLst>
              <a:gd name="adj" fmla="val 8571"/>
            </a:avLst>
          </a:prstGeom>
          <a:solidFill>
            <a:srgbClr val="1B2A3A"/>
          </a:solidFill>
          <a:ln w="12700">
            <a:solidFill>
              <a:srgbClr val="2A3B4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4453128" y="5458968"/>
            <a:ext cx="329184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E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43K+ Rows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4453128" y="59253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50" dirty="0">
                <a:solidFill>
                  <a:srgbClr val="AAB6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INGESTED ACROSS 8 NORMALIZED SCHEMAS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8083296" y="5349240"/>
            <a:ext cx="3566160" cy="960120"/>
          </a:xfrm>
          <a:prstGeom prst="roundRect">
            <a:avLst>
              <a:gd name="adj" fmla="val 8571"/>
            </a:avLst>
          </a:prstGeom>
          <a:solidFill>
            <a:srgbClr val="1B2A3A"/>
          </a:solidFill>
          <a:ln w="12700">
            <a:solidFill>
              <a:srgbClr val="2A3B4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220456" y="5458968"/>
            <a:ext cx="329184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E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Screens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8220456" y="59253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50" dirty="0">
                <a:solidFill>
                  <a:srgbClr val="AAB6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EXECUTIVE ANALYTICAL JOURNEY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INSIGHTPILOT AI · CONFIDENTIAL</a:t>
            </a:r>
            <a:endParaRPr lang="en-US" sz="900" dirty="0"/>
          </a:p>
        </p:txBody>
      </p:sp>
      <p:sp>
        <p:nvSpPr>
          <p:cNvPr id="4" name="Text 12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4ECF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IMPLEMENTATION 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Path from Prototype to Enterprise Deployment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05200" cy="3291840"/>
          </a:xfrm>
          <a:prstGeom prst="roundRect">
            <a:avLst>
              <a:gd name="adj" fmla="val 2500"/>
            </a:avLst>
          </a:prstGeom>
          <a:solidFill>
            <a:srgbClr val="1B2A3A"/>
          </a:solidFill>
          <a:ln w="12700">
            <a:solidFill>
              <a:srgbClr val="2A3B4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94560"/>
            <a:ext cx="457200" cy="457200"/>
          </a:xfrm>
          <a:prstGeom prst="ellipse">
            <a:avLst/>
          </a:prstGeom>
          <a:solidFill>
            <a:srgbClr val="202E3D"/>
          </a:solidFill>
          <a:ln w="15875">
            <a:solidFill>
              <a:srgbClr val="4ECFC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E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148840"/>
            <a:ext cx="240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rgbClr val="4ECF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377440"/>
            <a:ext cx="240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063240"/>
            <a:ext cx="295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AB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 single business unit’s ERP and CRM systems; validate deterministic engines against live data.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4617720"/>
            <a:ext cx="2956560" cy="0"/>
          </a:xfrm>
          <a:prstGeom prst="line">
            <a:avLst/>
          </a:prstGeom>
          <a:noFill/>
          <a:ln w="12700">
            <a:solidFill>
              <a:srgbClr val="2A3B4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709160"/>
            <a:ext cx="295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FE7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0–3 Months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28160" y="1920240"/>
            <a:ext cx="3505200" cy="3291840"/>
          </a:xfrm>
          <a:prstGeom prst="roundRect">
            <a:avLst>
              <a:gd name="adj" fmla="val 2500"/>
            </a:avLst>
          </a:prstGeom>
          <a:solidFill>
            <a:srgbClr val="1B2A3A"/>
          </a:solidFill>
          <a:ln w="12700">
            <a:solidFill>
              <a:srgbClr val="2A3B4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02480" y="2194560"/>
            <a:ext cx="457200" cy="457200"/>
          </a:xfrm>
          <a:prstGeom prst="ellipse">
            <a:avLst/>
          </a:prstGeom>
          <a:solidFill>
            <a:srgbClr val="202E3D"/>
          </a:solidFill>
          <a:ln w="15875">
            <a:solidFill>
              <a:srgbClr val="4ECFC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0248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E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242560" y="2148840"/>
            <a:ext cx="240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rgbClr val="4ECF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2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242560" y="2377440"/>
            <a:ext cx="240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Multi-Unit Rollout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602480" y="3063240"/>
            <a:ext cx="295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AB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across Supply Chain, Commercial Sales, Finance, and Procurement divisions.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02480" y="4617720"/>
            <a:ext cx="2956560" cy="0"/>
          </a:xfrm>
          <a:prstGeom prst="line">
            <a:avLst/>
          </a:prstGeom>
          <a:noFill/>
          <a:ln w="12700">
            <a:solidFill>
              <a:srgbClr val="2A3B4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02480" y="4709160"/>
            <a:ext cx="295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FE7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3–9 Months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07680" y="1920240"/>
            <a:ext cx="3505200" cy="3291840"/>
          </a:xfrm>
          <a:prstGeom prst="roundRect">
            <a:avLst>
              <a:gd name="adj" fmla="val 2500"/>
            </a:avLst>
          </a:prstGeom>
          <a:solidFill>
            <a:srgbClr val="1B2A3A"/>
          </a:solidFill>
          <a:ln w="12700">
            <a:solidFill>
              <a:srgbClr val="2A3B4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82000" y="2194560"/>
            <a:ext cx="457200" cy="457200"/>
          </a:xfrm>
          <a:prstGeom prst="ellipse">
            <a:avLst/>
          </a:prstGeom>
          <a:solidFill>
            <a:srgbClr val="202E3D"/>
          </a:solidFill>
          <a:ln w="15875">
            <a:solidFill>
              <a:srgbClr val="4ECFC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8200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E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022080" y="2148840"/>
            <a:ext cx="240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rgbClr val="4ECF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3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9022080" y="2377440"/>
            <a:ext cx="240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Scale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382000" y="3063240"/>
            <a:ext cx="295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AB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 deployment with full SOX / enterprise-governance audit certification.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382000" y="4617720"/>
            <a:ext cx="2956560" cy="0"/>
          </a:xfrm>
          <a:prstGeom prst="line">
            <a:avLst/>
          </a:prstGeom>
          <a:noFill/>
          <a:ln w="12700">
            <a:solidFill>
              <a:srgbClr val="2A3B4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382000" y="4709160"/>
            <a:ext cx="295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FE7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9–18 Months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INSIGHTPILOT AI · CONFIDENTIAL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6400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4ECF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CLOSING VISION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3444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Enterprise Decision-Making</a:t>
            </a:r>
            <a:endParaRPr lang="en-US" sz="3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Verified, Not Guessed.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889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AAB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InsightPilot AI is fully tested, deployed, documented, and ready for immediate executive evaluation — a production-grade prototype for the Accenture Innovation Challenge 2026.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3611880"/>
            <a:ext cx="2606040" cy="1051560"/>
          </a:xfrm>
          <a:prstGeom prst="roundRect">
            <a:avLst>
              <a:gd name="adj" fmla="val 7826"/>
            </a:avLst>
          </a:prstGeom>
          <a:solidFill>
            <a:srgbClr val="1B2A3A"/>
          </a:solidFill>
          <a:ln w="12700">
            <a:solidFill>
              <a:srgbClr val="2A3B4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3721608"/>
            <a:ext cx="233172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E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27939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50" dirty="0">
                <a:solidFill>
                  <a:srgbClr val="AAB6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COMPETITION READY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10712" y="3611880"/>
            <a:ext cx="2606040" cy="1051560"/>
          </a:xfrm>
          <a:prstGeom prst="roundRect">
            <a:avLst>
              <a:gd name="adj" fmla="val 7826"/>
            </a:avLst>
          </a:prstGeom>
          <a:solidFill>
            <a:srgbClr val="1B2A3A"/>
          </a:solidFill>
          <a:ln w="12700">
            <a:solidFill>
              <a:srgbClr val="2A3B4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547872" y="3721608"/>
            <a:ext cx="233172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E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305 Tests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3547872" y="427939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50" dirty="0">
                <a:solidFill>
                  <a:srgbClr val="AAB6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GREEN TEST SUITE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81344" y="3611880"/>
            <a:ext cx="2606040" cy="1051560"/>
          </a:xfrm>
          <a:prstGeom prst="roundRect">
            <a:avLst>
              <a:gd name="adj" fmla="val 7826"/>
            </a:avLst>
          </a:prstGeom>
          <a:solidFill>
            <a:srgbClr val="1B2A3A"/>
          </a:solidFill>
          <a:ln w="12700">
            <a:solidFill>
              <a:srgbClr val="2A3B4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318504" y="3721608"/>
            <a:ext cx="233172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E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Screens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318504" y="427939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50" dirty="0">
                <a:solidFill>
                  <a:srgbClr val="AAB6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USER JOURNEY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951976" y="3611880"/>
            <a:ext cx="2606040" cy="1051560"/>
          </a:xfrm>
          <a:prstGeom prst="roundRect">
            <a:avLst>
              <a:gd name="adj" fmla="val 7826"/>
            </a:avLst>
          </a:prstGeom>
          <a:solidFill>
            <a:srgbClr val="1B2A3A"/>
          </a:solidFill>
          <a:ln w="12700">
            <a:solidFill>
              <a:srgbClr val="2A3B4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089136" y="3721608"/>
            <a:ext cx="233172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E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9089136" y="427939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50" dirty="0">
                <a:solidFill>
                  <a:srgbClr val="AAB6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SUBMISSION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0080" y="4983480"/>
            <a:ext cx="10835640" cy="1234440"/>
          </a:xfrm>
          <a:prstGeom prst="roundRect">
            <a:avLst>
              <a:gd name="adj" fmla="val 6667"/>
            </a:avLst>
          </a:prstGeom>
          <a:solidFill>
            <a:srgbClr val="162332"/>
          </a:solidFill>
          <a:ln w="12700">
            <a:solidFill>
              <a:srgbClr val="2A3B4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914400" y="4983480"/>
            <a:ext cx="10287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 </a:t>
            </a:r>
            <a:r>
              <a:rPr lang="en-US" sz="1250" dirty="0">
                <a:solidFill>
                  <a:srgbClr val="8FE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github.com/ayus1234/InsighPilotAI
</a:t>
            </a:r>
            <a:r>
              <a:rPr lang="en-US" sz="125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Deliverables:  </a:t>
            </a:r>
            <a:r>
              <a:rPr lang="en-US" sz="1250" dirty="0">
                <a:solidFill>
                  <a:srgbClr val="AAB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README (PDF) · Detailed Business Proposal (PDF/PPTX) · Prototype Demo Video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Ayush Kumar  —  Developer &amp; Architect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076895" y="6355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3: BusinessIntelligence.ai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1475</Words>
  <Application>Microsoft Office PowerPoint</Application>
  <PresentationFormat>Widescreen</PresentationFormat>
  <Paragraphs>303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Ayush Nathani</cp:lastModifiedBy>
  <cp:revision>2</cp:revision>
  <dcterms:created xsi:type="dcterms:W3CDTF">2026-08-30T18:15:34Z</dcterms:created>
  <dcterms:modified xsi:type="dcterms:W3CDTF">2026-08-30T18:27:37Z</dcterms:modified>
</cp:coreProperties>
</file>